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4601" r:id="rId5"/>
    <p:sldId id="4602" r:id="rId6"/>
    <p:sldId id="4604" r:id="rId7"/>
    <p:sldId id="4605" r:id="rId8"/>
    <p:sldId id="4626" r:id="rId9"/>
    <p:sldId id="4624" r:id="rId10"/>
    <p:sldId id="4614" r:id="rId11"/>
    <p:sldId id="4608" r:id="rId12"/>
    <p:sldId id="4609" r:id="rId13"/>
    <p:sldId id="4630" r:id="rId14"/>
    <p:sldId id="4620" r:id="rId15"/>
    <p:sldId id="4610" r:id="rId16"/>
    <p:sldId id="4627" r:id="rId17"/>
    <p:sldId id="4338" r:id="rId18"/>
    <p:sldId id="4623" r:id="rId19"/>
    <p:sldId id="4628" r:id="rId20"/>
    <p:sldId id="4631" r:id="rId21"/>
    <p:sldId id="4633" r:id="rId22"/>
    <p:sldId id="28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Slides" id="{888F1B7E-8474-4447-AF82-8A2213AA69C2}">
          <p14:sldIdLst>
            <p14:sldId id="4601"/>
          </p14:sldIdLst>
        </p14:section>
        <p14:section name="Content Slides" id="{19823C87-F31F-E346-AFC5-9FA24983B0CC}">
          <p14:sldIdLst>
            <p14:sldId id="4602"/>
            <p14:sldId id="4604"/>
            <p14:sldId id="4605"/>
            <p14:sldId id="4626"/>
            <p14:sldId id="4624"/>
            <p14:sldId id="4614"/>
            <p14:sldId id="4608"/>
            <p14:sldId id="4609"/>
            <p14:sldId id="4630"/>
            <p14:sldId id="4620"/>
            <p14:sldId id="4610"/>
            <p14:sldId id="4627"/>
            <p14:sldId id="4338"/>
            <p14:sldId id="4623"/>
            <p14:sldId id="4628"/>
            <p14:sldId id="4631"/>
            <p14:sldId id="4633"/>
          </p14:sldIdLst>
        </p14:section>
        <p14:section name="Final Page" id="{2E45BA6D-186F-2442-80A6-285173F426D6}">
          <p14:sldIdLst>
            <p14:sldId id="28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AB5DF26-D019-22A0-6053-D687A3D28F7C}" name="Kaai Tung Chan" initials="KTC" userId="S::kaai.chan@un.org::e08a13a5-025f-4c3d-89da-a9d3c2e82a98" providerId="AD"/>
  <p188:author id="{E1138F7A-26DF-8CE1-1EDA-5D0F1D500C11}" name="Pia Kohler" initials="PK" userId="S::pia.kohler@un.org::ba89a2df-f61b-4607-b9bf-e98f1c0bf399" providerId="AD"/>
  <p188:author id="{167535ED-EA73-5D2B-2A6C-428DF0D7EF46}" name="Nalini Sharma" initials="NS" userId="S::nalini.sharma@un.org::f49da1b4-0d25-4b70-ab65-02758f874640" providerId="AD"/>
  <p188:author id="{3AE6CAF8-4BE5-F8CB-E4B0-F2845588977A}" name="Tessa Goverse" initials="TG" userId="S::goverse@un.org::d4b36143-2ffb-48a8-a097-d79cef0f2853" providerId="AD"/>
  <p188:author id="{E4B530F9-D0C6-66E8-3F00-ED27A033138C}" name="Pia M Kohler" initials="PMK" userId="Pia M Kohler" providerId="None"/>
  <p188:author id="{6EF714FD-EF21-3489-68ED-FE835AB9BFD0}" name="Leonie Geene" initials="LG" userId="S::leonie.geene@un.org::c6849f8b-2336-4a38-8802-a18319d012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7A7A"/>
    <a:srgbClr val="00B0F0"/>
    <a:srgbClr val="75FFFD"/>
    <a:srgbClr val="C5DAE2"/>
    <a:srgbClr val="D4EEF5"/>
    <a:srgbClr val="FFFFFF"/>
    <a:srgbClr val="215E7B"/>
    <a:srgbClr val="1C5A78"/>
    <a:srgbClr val="5F6075"/>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ssa Goverse" userId="d4b36143-2ffb-48a8-a097-d79cef0f2853" providerId="ADAL" clId="{307CC0DA-E3C8-4E0C-A399-BDAADF2967E3}"/>
    <pc:docChg chg="custSel delSld modSld modSection">
      <pc:chgData name="Tessa Goverse" userId="d4b36143-2ffb-48a8-a097-d79cef0f2853" providerId="ADAL" clId="{307CC0DA-E3C8-4E0C-A399-BDAADF2967E3}" dt="2026-02-01T08:07:55.225" v="267" actId="948"/>
      <pc:docMkLst>
        <pc:docMk/>
      </pc:docMkLst>
      <pc:sldChg chg="modSp mod">
        <pc:chgData name="Tessa Goverse" userId="d4b36143-2ffb-48a8-a097-d79cef0f2853" providerId="ADAL" clId="{307CC0DA-E3C8-4E0C-A399-BDAADF2967E3}" dt="2026-02-01T08:07:55.225" v="267" actId="948"/>
        <pc:sldMkLst>
          <pc:docMk/>
          <pc:sldMk cId="9671047" sldId="4631"/>
        </pc:sldMkLst>
        <pc:spChg chg="mod">
          <ac:chgData name="Tessa Goverse" userId="d4b36143-2ffb-48a8-a097-d79cef0f2853" providerId="ADAL" clId="{307CC0DA-E3C8-4E0C-A399-BDAADF2967E3}" dt="2026-02-01T08:05:21.575" v="49" actId="14100"/>
          <ac:spMkLst>
            <pc:docMk/>
            <pc:sldMk cId="9671047" sldId="4631"/>
            <ac:spMk id="2" creationId="{387C822E-8877-FEF0-19B8-1B5EE89CF044}"/>
          </ac:spMkLst>
        </pc:spChg>
        <pc:spChg chg="mod">
          <ac:chgData name="Tessa Goverse" userId="d4b36143-2ffb-48a8-a097-d79cef0f2853" providerId="ADAL" clId="{307CC0DA-E3C8-4E0C-A399-BDAADF2967E3}" dt="2026-02-01T08:07:55.225" v="267" actId="948"/>
          <ac:spMkLst>
            <pc:docMk/>
            <pc:sldMk cId="9671047" sldId="4631"/>
            <ac:spMk id="9" creationId="{F90CB56D-0635-15F9-6F17-BB08982CF807}"/>
          </ac:spMkLst>
        </pc:spChg>
      </pc:sldChg>
      <pc:sldChg chg="del">
        <pc:chgData name="Tessa Goverse" userId="d4b36143-2ffb-48a8-a097-d79cef0f2853" providerId="ADAL" clId="{307CC0DA-E3C8-4E0C-A399-BDAADF2967E3}" dt="2026-02-01T08:03:58.141" v="0" actId="47"/>
        <pc:sldMkLst>
          <pc:docMk/>
          <pc:sldMk cId="227023767" sldId="463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A16114-94D5-C94E-A414-FD075A01461A}"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426B78-950D-0B45-B694-D406D7D4BE9C}" type="slidenum">
              <a:rPr lang="en-US" smtClean="0"/>
              <a:t>‹#›</a:t>
            </a:fld>
            <a:endParaRPr lang="en-US"/>
          </a:p>
        </p:txBody>
      </p:sp>
    </p:spTree>
    <p:extLst>
      <p:ext uri="{BB962C8B-B14F-4D97-AF65-F5344CB8AC3E}">
        <p14:creationId xmlns:p14="http://schemas.microsoft.com/office/powerpoint/2010/main" val="3125600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426B78-950D-0B45-B694-D406D7D4BE9C}" type="slidenum">
              <a:rPr lang="en-US" smtClean="0"/>
              <a:t>5</a:t>
            </a:fld>
            <a:endParaRPr lang="en-US"/>
          </a:p>
        </p:txBody>
      </p:sp>
    </p:spTree>
    <p:extLst>
      <p:ext uri="{BB962C8B-B14F-4D97-AF65-F5344CB8AC3E}">
        <p14:creationId xmlns:p14="http://schemas.microsoft.com/office/powerpoint/2010/main" val="100846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lnSpc>
                <a:spcPct val="107000"/>
              </a:lnSpc>
              <a:tabLst>
                <a:tab pos="465887" algn="l"/>
              </a:tabLst>
            </a:pPr>
            <a:endParaRPr lang="en-GB" sz="1800" kern="10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2426B78-950D-0B45-B694-D406D7D4BE9C}" type="slidenum">
              <a:rPr lang="en-US" smtClean="0"/>
              <a:t>14</a:t>
            </a:fld>
            <a:endParaRPr lang="en-US"/>
          </a:p>
        </p:txBody>
      </p:sp>
    </p:spTree>
    <p:extLst>
      <p:ext uri="{BB962C8B-B14F-4D97-AF65-F5344CB8AC3E}">
        <p14:creationId xmlns:p14="http://schemas.microsoft.com/office/powerpoint/2010/main" val="1214962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3AC07-4ECD-274D-A461-34813D23A1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DAD18A-AA99-7244-AD35-36B5F7F22F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20D051-4D76-114A-B416-A96E2CBDBC00}"/>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5" name="Footer Placeholder 4">
            <a:extLst>
              <a:ext uri="{FF2B5EF4-FFF2-40B4-BE49-F238E27FC236}">
                <a16:creationId xmlns:a16="http://schemas.microsoft.com/office/drawing/2014/main" id="{CFF8A74E-22F8-534D-B4EF-35F71AEC33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047C90-B25E-A346-9E9B-162B3B16D880}"/>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3353953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BC2BE-2FD4-BE43-A025-98552DC855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190BEE-8862-634E-9DAE-E2C82AD1A6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1F68F-66EB-5E4A-B72B-F8770F943045}"/>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5" name="Footer Placeholder 4">
            <a:extLst>
              <a:ext uri="{FF2B5EF4-FFF2-40B4-BE49-F238E27FC236}">
                <a16:creationId xmlns:a16="http://schemas.microsoft.com/office/drawing/2014/main" id="{4FD4B2E6-7E31-1941-AEBF-B1CE93BB22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5437D6-1BEB-144E-AF02-C0AFE57A2DE5}"/>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458556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717B9-B148-E945-A148-AF11F998E4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CA13F4-6533-8F4D-B85C-DCBEBAB82A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1D4C4C-3BC4-E94B-8FFB-CF3A78D02D6F}"/>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5" name="Footer Placeholder 4">
            <a:extLst>
              <a:ext uri="{FF2B5EF4-FFF2-40B4-BE49-F238E27FC236}">
                <a16:creationId xmlns:a16="http://schemas.microsoft.com/office/drawing/2014/main" id="{536E3417-B0DA-8D40-BCFF-5BD793E06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E3042B-AE29-6A40-9D64-EB42D4DFD3BB}"/>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3974885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A3EBE-5BB2-9043-B1CD-F8DEC3713C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7F21E0-BF3B-5645-B70D-243CB22420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A73481-D8A0-D844-8619-711C4427A0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03B4DE-EF38-F44E-B078-539326634548}"/>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6" name="Footer Placeholder 5">
            <a:extLst>
              <a:ext uri="{FF2B5EF4-FFF2-40B4-BE49-F238E27FC236}">
                <a16:creationId xmlns:a16="http://schemas.microsoft.com/office/drawing/2014/main" id="{901DDE1C-6604-1844-9F35-A0D309527B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96A18A-AF8C-3344-A6D2-BC0EBB13AA75}"/>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2309048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FAABC-5F3E-F544-A989-4215E16705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4AD5C4-1F6E-E542-86B3-2FD64939D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E9964D-E4CF-C64B-B22B-028802C32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23F8C2-AAC8-294A-AE77-DC323A8B3B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D8550E-758E-4C47-AAF9-E6DCB4BCAC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B80521-D8AC-D245-B03B-798B63C47275}"/>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8" name="Footer Placeholder 7">
            <a:extLst>
              <a:ext uri="{FF2B5EF4-FFF2-40B4-BE49-F238E27FC236}">
                <a16:creationId xmlns:a16="http://schemas.microsoft.com/office/drawing/2014/main" id="{0E73800E-41A3-6640-8D6F-5E6B752C1D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CF6877-5F51-7946-8AE1-D155878536C1}"/>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1051302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361D1-71E2-A143-9849-E31FC4963E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0A9FB3-307A-DF4E-9555-451A6BB3E399}"/>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4" name="Footer Placeholder 3">
            <a:extLst>
              <a:ext uri="{FF2B5EF4-FFF2-40B4-BE49-F238E27FC236}">
                <a16:creationId xmlns:a16="http://schemas.microsoft.com/office/drawing/2014/main" id="{EE7E2E4D-59CE-554C-89A6-862894A99C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E3EB03-2311-2D40-A4C7-9075EE223428}"/>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1118681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3E0DE3-BED1-D54F-BEAA-EC1028D846C2}"/>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3" name="Footer Placeholder 2">
            <a:extLst>
              <a:ext uri="{FF2B5EF4-FFF2-40B4-BE49-F238E27FC236}">
                <a16:creationId xmlns:a16="http://schemas.microsoft.com/office/drawing/2014/main" id="{00F3F3F1-269A-0141-BCC5-EC8AF00559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95E10F-C896-364B-B942-D8EAE480F319}"/>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1586678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9F1E7-463E-9649-AB61-F30F302CFF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8889F6-1141-5F4B-9E1A-78D1C42B8A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207966-BD51-484B-9E24-A0AF92E84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2F7D5A-298F-7645-89AA-57AA44E11EDB}"/>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6" name="Footer Placeholder 5">
            <a:extLst>
              <a:ext uri="{FF2B5EF4-FFF2-40B4-BE49-F238E27FC236}">
                <a16:creationId xmlns:a16="http://schemas.microsoft.com/office/drawing/2014/main" id="{0F5C3A19-B82D-7848-9D80-1438A5CEAF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2609FB-0537-F447-8684-B7AE80CF6A0E}"/>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985337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ADCD7-8C05-784F-B967-89E4284ECA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38B20C-C42A-E44D-A952-19B4D305CB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2854BA3-09E2-2C4E-89F7-110A98FCA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15A16B-D78C-A546-8D53-5C548EAC14B0}"/>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6" name="Footer Placeholder 5">
            <a:extLst>
              <a:ext uri="{FF2B5EF4-FFF2-40B4-BE49-F238E27FC236}">
                <a16:creationId xmlns:a16="http://schemas.microsoft.com/office/drawing/2014/main" id="{42DFF0E7-CF03-B64A-B146-9D65C2BAF9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553722-7A82-4448-B7C3-02830ECCB6D1}"/>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1224559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7F9A-FB0A-374E-8E6E-9FA973B034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A5AF0C-A74C-8D41-8D0B-E760DF3D22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94928-BA9F-BE42-8F15-BBA9A42264DF}"/>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5" name="Footer Placeholder 4">
            <a:extLst>
              <a:ext uri="{FF2B5EF4-FFF2-40B4-BE49-F238E27FC236}">
                <a16:creationId xmlns:a16="http://schemas.microsoft.com/office/drawing/2014/main" id="{45B01EF0-F95A-7945-9A8C-35AD090D9D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D147B9-6005-2044-8A6F-E62EBCA39236}"/>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2118057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726E5D-64F1-7042-8487-B3E5161568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55CE7-1A46-F24F-8E3D-5A75E4297B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CF563F-D312-914B-8778-A3D9146B4842}"/>
              </a:ext>
            </a:extLst>
          </p:cNvPr>
          <p:cNvSpPr>
            <a:spLocks noGrp="1"/>
          </p:cNvSpPr>
          <p:nvPr>
            <p:ph type="dt" sz="half" idx="10"/>
          </p:nvPr>
        </p:nvSpPr>
        <p:spPr/>
        <p:txBody>
          <a:bodyPr/>
          <a:lstStyle/>
          <a:p>
            <a:fld id="{A0F30487-9C54-7E48-836D-2B2D373B8A85}" type="datetimeFigureOut">
              <a:rPr lang="en-US" smtClean="0"/>
              <a:t>2/1/2026</a:t>
            </a:fld>
            <a:endParaRPr lang="en-US"/>
          </a:p>
        </p:txBody>
      </p:sp>
      <p:sp>
        <p:nvSpPr>
          <p:cNvPr id="5" name="Footer Placeholder 4">
            <a:extLst>
              <a:ext uri="{FF2B5EF4-FFF2-40B4-BE49-F238E27FC236}">
                <a16:creationId xmlns:a16="http://schemas.microsoft.com/office/drawing/2014/main" id="{DEFAEE13-CEB6-B842-A306-00E16204F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45253-EA51-E242-8776-3BAF9B396794}"/>
              </a:ext>
            </a:extLst>
          </p:cNvPr>
          <p:cNvSpPr>
            <a:spLocks noGrp="1"/>
          </p:cNvSpPr>
          <p:nvPr>
            <p:ph type="sldNum" sz="quarter" idx="12"/>
          </p:nvPr>
        </p:nvSpPr>
        <p:spPr/>
        <p:txBody>
          <a:bodyPr/>
          <a:lstStyle/>
          <a:p>
            <a:fld id="{F09E0203-A09F-0842-9341-4BFD3867CFA2}" type="slidenum">
              <a:rPr lang="en-US" smtClean="0"/>
              <a:t>‹#›</a:t>
            </a:fld>
            <a:endParaRPr lang="en-US"/>
          </a:p>
        </p:txBody>
      </p:sp>
    </p:spTree>
    <p:extLst>
      <p:ext uri="{BB962C8B-B14F-4D97-AF65-F5344CB8AC3E}">
        <p14:creationId xmlns:p14="http://schemas.microsoft.com/office/powerpoint/2010/main" val="740493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7929D1-5E48-A046-AAE1-BCCA5ACB15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3C9253-EABA-104E-AC57-20BBDDC8E5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A41176-6322-B44A-AB2A-64E15B9FE0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F30487-9C54-7E48-836D-2B2D373B8A85}" type="datetimeFigureOut">
              <a:rPr lang="en-US" smtClean="0"/>
              <a:t>2/1/2026</a:t>
            </a:fld>
            <a:endParaRPr lang="en-US"/>
          </a:p>
        </p:txBody>
      </p:sp>
      <p:sp>
        <p:nvSpPr>
          <p:cNvPr id="5" name="Footer Placeholder 4">
            <a:extLst>
              <a:ext uri="{FF2B5EF4-FFF2-40B4-BE49-F238E27FC236}">
                <a16:creationId xmlns:a16="http://schemas.microsoft.com/office/drawing/2014/main" id="{AE3DE3D9-F99A-6A4A-A255-F36F987B4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2D6F28-6826-124D-9F1F-0239F9E508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9E0203-A09F-0842-9341-4BFD3867CFA2}" type="slidenum">
              <a:rPr lang="en-US" smtClean="0"/>
              <a:t>‹#›</a:t>
            </a:fld>
            <a:endParaRPr lang="en-US"/>
          </a:p>
        </p:txBody>
      </p:sp>
    </p:spTree>
    <p:extLst>
      <p:ext uri="{BB962C8B-B14F-4D97-AF65-F5344CB8AC3E}">
        <p14:creationId xmlns:p14="http://schemas.microsoft.com/office/powerpoint/2010/main" val="381489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www.unep.org/isp-cwp/abou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hyperlink" Target="mailto:isp-cwp@un.org"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AEEF"/>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9E47F5E-318D-14B6-9238-E8D811A78F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87488" y="265912"/>
            <a:ext cx="1464711" cy="1464711"/>
          </a:xfrm>
          <a:prstGeom prst="rect">
            <a:avLst/>
          </a:prstGeom>
        </p:spPr>
      </p:pic>
      <p:sp>
        <p:nvSpPr>
          <p:cNvPr id="7" name="TextBox 6">
            <a:extLst>
              <a:ext uri="{FF2B5EF4-FFF2-40B4-BE49-F238E27FC236}">
                <a16:creationId xmlns:a16="http://schemas.microsoft.com/office/drawing/2014/main" id="{2F6C2A17-D2D2-F5F0-3A87-24979CCFF65C}"/>
              </a:ext>
            </a:extLst>
          </p:cNvPr>
          <p:cNvSpPr txBox="1"/>
          <p:nvPr/>
        </p:nvSpPr>
        <p:spPr>
          <a:xfrm>
            <a:off x="939801" y="6102798"/>
            <a:ext cx="3965515" cy="430887"/>
          </a:xfrm>
          <a:prstGeom prst="rect">
            <a:avLst/>
          </a:prstGeom>
          <a:noFill/>
        </p:spPr>
        <p:txBody>
          <a:bodyPr wrap="square" lIns="91440" tIns="45720" rIns="91440" bIns="45720" anchor="t">
            <a:spAutoFit/>
          </a:bodyPr>
          <a:lstStyle/>
          <a:p>
            <a:r>
              <a:rPr lang="en-US" sz="1100">
                <a:solidFill>
                  <a:schemeClr val="bg1"/>
                </a:solidFill>
                <a:latin typeface="Roboto"/>
                <a:ea typeface="Roboto"/>
                <a:cs typeface="Roboto"/>
              </a:rPr>
              <a:t>Interim secretariat of the Intergovernmental Science-Policy Panel on Chemicals, Waste and Pollution (ISP-CWP)</a:t>
            </a:r>
            <a:endParaRPr lang="en-US" sz="1100">
              <a:solidFill>
                <a:schemeClr val="bg1"/>
              </a:solidFill>
              <a:latin typeface="Roboto" panose="02000000000000000000" pitchFamily="2" charset="0"/>
              <a:ea typeface="Roboto" panose="02000000000000000000" pitchFamily="2" charset="0"/>
              <a:cs typeface="Roboto"/>
            </a:endParaRPr>
          </a:p>
        </p:txBody>
      </p:sp>
      <p:grpSp>
        <p:nvGrpSpPr>
          <p:cNvPr id="10" name="Group 9">
            <a:extLst>
              <a:ext uri="{FF2B5EF4-FFF2-40B4-BE49-F238E27FC236}">
                <a16:creationId xmlns:a16="http://schemas.microsoft.com/office/drawing/2014/main" id="{45147748-0A9B-93AC-89D9-465B83D5B092}"/>
              </a:ext>
            </a:extLst>
          </p:cNvPr>
          <p:cNvGrpSpPr/>
          <p:nvPr/>
        </p:nvGrpSpPr>
        <p:grpSpPr>
          <a:xfrm>
            <a:off x="939383" y="2615332"/>
            <a:ext cx="10968393" cy="2479094"/>
            <a:chOff x="6565547" y="2823743"/>
            <a:chExt cx="10754085" cy="2479094"/>
          </a:xfrm>
        </p:grpSpPr>
        <p:sp>
          <p:nvSpPr>
            <p:cNvPr id="6" name="TextBox 5">
              <a:extLst>
                <a:ext uri="{FF2B5EF4-FFF2-40B4-BE49-F238E27FC236}">
                  <a16:creationId xmlns:a16="http://schemas.microsoft.com/office/drawing/2014/main" id="{A22CEC65-76EA-9B74-895E-852BE1A06E1B}"/>
                </a:ext>
              </a:extLst>
            </p:cNvPr>
            <p:cNvSpPr txBox="1"/>
            <p:nvPr/>
          </p:nvSpPr>
          <p:spPr>
            <a:xfrm>
              <a:off x="6565547" y="4964283"/>
              <a:ext cx="10226260" cy="338554"/>
            </a:xfrm>
            <a:prstGeom prst="rect">
              <a:avLst/>
            </a:prstGeom>
            <a:noFill/>
          </p:spPr>
          <p:txBody>
            <a:bodyPr wrap="square" lIns="91440" tIns="45720" rIns="91440" bIns="45720" anchor="t">
              <a:spAutoFit/>
            </a:bodyPr>
            <a:lstStyle/>
            <a:p>
              <a:pPr>
                <a:defRPr/>
              </a:pPr>
              <a:r>
                <a:rPr lang="en-US" sz="1600" dirty="0">
                  <a:solidFill>
                    <a:schemeClr val="bg1"/>
                  </a:solidFill>
                  <a:latin typeface="Roboto Light"/>
                  <a:ea typeface="Roboto Light"/>
                  <a:cs typeface="Roboto Light"/>
                </a:rPr>
                <a:t>Informal stakeholder meeting</a:t>
              </a:r>
            </a:p>
          </p:txBody>
        </p:sp>
        <p:sp>
          <p:nvSpPr>
            <p:cNvPr id="8" name="TextBox 7">
              <a:extLst>
                <a:ext uri="{FF2B5EF4-FFF2-40B4-BE49-F238E27FC236}">
                  <a16:creationId xmlns:a16="http://schemas.microsoft.com/office/drawing/2014/main" id="{A7A7F48F-4584-0419-1CE3-99E501F8C83C}"/>
                </a:ext>
              </a:extLst>
            </p:cNvPr>
            <p:cNvSpPr txBox="1"/>
            <p:nvPr/>
          </p:nvSpPr>
          <p:spPr>
            <a:xfrm>
              <a:off x="6565956" y="2823743"/>
              <a:ext cx="3505199" cy="369332"/>
            </a:xfrm>
            <a:prstGeom prst="rect">
              <a:avLst/>
            </a:prstGeom>
            <a:noFill/>
          </p:spPr>
          <p:txBody>
            <a:bodyPr wrap="square" lIns="91440" tIns="45720" rIns="91440" bIns="45720" anchor="t">
              <a:spAutoFit/>
            </a:bodyPr>
            <a:lstStyle/>
            <a:p>
              <a:r>
                <a:rPr lang="en-US" dirty="0">
                  <a:solidFill>
                    <a:schemeClr val="bg1"/>
                  </a:solidFill>
                  <a:latin typeface="Roboto"/>
                  <a:ea typeface="Roboto"/>
                  <a:cs typeface="Roboto"/>
                </a:rPr>
                <a:t>1 February 2026</a:t>
              </a:r>
            </a:p>
          </p:txBody>
        </p:sp>
        <p:sp>
          <p:nvSpPr>
            <p:cNvPr id="9" name="TextBox 8">
              <a:extLst>
                <a:ext uri="{FF2B5EF4-FFF2-40B4-BE49-F238E27FC236}">
                  <a16:creationId xmlns:a16="http://schemas.microsoft.com/office/drawing/2014/main" id="{E8C77EC6-BBB5-6EA7-ABBD-A0E854B80447}"/>
                </a:ext>
              </a:extLst>
            </p:cNvPr>
            <p:cNvSpPr txBox="1"/>
            <p:nvPr/>
          </p:nvSpPr>
          <p:spPr>
            <a:xfrm>
              <a:off x="6565547" y="3186127"/>
              <a:ext cx="10754085" cy="1200329"/>
            </a:xfrm>
            <a:prstGeom prst="rect">
              <a:avLst/>
            </a:prstGeom>
            <a:noFill/>
          </p:spPr>
          <p:txBody>
            <a:bodyPr wrap="square" lIns="91440" tIns="45720" rIns="91440" bIns="45720" anchor="t">
              <a:spAutoFit/>
            </a:bodyPr>
            <a:lstStyle/>
            <a:p>
              <a:r>
                <a:rPr lang="en-US" sz="3600" b="1" dirty="0">
                  <a:solidFill>
                    <a:schemeClr val="bg1"/>
                  </a:solidFill>
                  <a:latin typeface="Roboto"/>
                  <a:ea typeface="Roboto"/>
                  <a:cs typeface="Roboto"/>
                </a:rPr>
                <a:t>Introducing the Intergovernmental Science-Policy Panel on Chemicals, Waste and Pollution (ISP-CWP) </a:t>
              </a:r>
            </a:p>
          </p:txBody>
        </p:sp>
      </p:grpSp>
      <p:sp>
        <p:nvSpPr>
          <p:cNvPr id="2" name="TextBox 1">
            <a:extLst>
              <a:ext uri="{FF2B5EF4-FFF2-40B4-BE49-F238E27FC236}">
                <a16:creationId xmlns:a16="http://schemas.microsoft.com/office/drawing/2014/main" id="{63070E7B-94C6-3620-28A0-31A5BDBF2586}"/>
              </a:ext>
            </a:extLst>
          </p:cNvPr>
          <p:cNvSpPr txBox="1"/>
          <p:nvPr/>
        </p:nvSpPr>
        <p:spPr>
          <a:xfrm>
            <a:off x="9562313" y="5930908"/>
            <a:ext cx="1689886" cy="369332"/>
          </a:xfrm>
          <a:prstGeom prst="rect">
            <a:avLst/>
          </a:prstGeom>
          <a:noFill/>
        </p:spPr>
        <p:txBody>
          <a:bodyPr wrap="none" rtlCol="0">
            <a:spAutoFit/>
          </a:bodyPr>
          <a:lstStyle/>
          <a:p>
            <a:pPr algn="ctr"/>
            <a:r>
              <a:rPr lang="en-US" b="1">
                <a:solidFill>
                  <a:schemeClr val="bg1"/>
                </a:solidFill>
                <a:latin typeface="Roboto" panose="02000000000000000000" pitchFamily="2" charset="0"/>
                <a:ea typeface="Roboto" panose="02000000000000000000" pitchFamily="2" charset="0"/>
                <a:cs typeface="Roboto" panose="02000000000000000000" pitchFamily="2" charset="0"/>
              </a:rPr>
              <a:t>www.unep.org</a:t>
            </a:r>
            <a:endParaRPr lang="en-KE"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CA4C55E7-D4D4-EE08-7DEC-250AB7DACC55}"/>
              </a:ext>
            </a:extLst>
          </p:cNvPr>
          <p:cNvSpPr txBox="1"/>
          <p:nvPr/>
        </p:nvSpPr>
        <p:spPr>
          <a:xfrm>
            <a:off x="5061109" y="482443"/>
            <a:ext cx="4726488" cy="892552"/>
          </a:xfrm>
          <a:prstGeom prst="rect">
            <a:avLst/>
          </a:prstGeom>
          <a:noFill/>
        </p:spPr>
        <p:txBody>
          <a:bodyPr wrap="square" lIns="91440" tIns="45720" rIns="91440" bIns="45720" rtlCol="0" anchor="t">
            <a:spAutoFit/>
          </a:bodyPr>
          <a:lstStyle/>
          <a:p>
            <a:pPr algn="r"/>
            <a:r>
              <a:rPr lang="en-US" sz="2000" b="1">
                <a:solidFill>
                  <a:schemeClr val="bg1"/>
                </a:solidFill>
                <a:latin typeface="Roboto" panose="02000000000000000000" pitchFamily="2" charset="0"/>
                <a:ea typeface="Roboto" panose="02000000000000000000" pitchFamily="2" charset="0"/>
                <a:cs typeface="Roboto" panose="02000000000000000000" pitchFamily="2" charset="0"/>
              </a:rPr>
              <a:t>ISP-CWP</a:t>
            </a:r>
          </a:p>
          <a:p>
            <a:pPr algn="r"/>
            <a:r>
              <a:rPr lang="en-US" sz="1600" b="1">
                <a:solidFill>
                  <a:schemeClr val="bg1"/>
                </a:solidFill>
                <a:latin typeface="Roboto" panose="02000000000000000000" pitchFamily="2" charset="0"/>
                <a:ea typeface="Roboto" panose="02000000000000000000" pitchFamily="2" charset="0"/>
                <a:cs typeface="Roboto" panose="02000000000000000000" pitchFamily="2" charset="0"/>
              </a:rPr>
              <a:t>Intergovernmental Science-Policy Panel </a:t>
            </a:r>
            <a:br>
              <a:rPr lang="en-US" sz="1600" b="1">
                <a:solidFill>
                  <a:schemeClr val="bg1"/>
                </a:solidFill>
                <a:latin typeface="Roboto" panose="02000000000000000000" pitchFamily="2" charset="0"/>
                <a:ea typeface="Roboto" panose="02000000000000000000" pitchFamily="2" charset="0"/>
                <a:cs typeface="Roboto" panose="02000000000000000000" pitchFamily="2" charset="0"/>
              </a:rPr>
            </a:br>
            <a:r>
              <a:rPr lang="en-US" sz="1600" b="1">
                <a:solidFill>
                  <a:schemeClr val="bg1"/>
                </a:solidFill>
                <a:latin typeface="Roboto" panose="02000000000000000000" pitchFamily="2" charset="0"/>
                <a:ea typeface="Roboto" panose="02000000000000000000" pitchFamily="2" charset="0"/>
                <a:cs typeface="Roboto" panose="02000000000000000000" pitchFamily="2" charset="0"/>
              </a:rPr>
              <a:t>on Chemicals, Waste and Pollution </a:t>
            </a:r>
          </a:p>
        </p:txBody>
      </p:sp>
    </p:spTree>
    <p:extLst>
      <p:ext uri="{BB962C8B-B14F-4D97-AF65-F5344CB8AC3E}">
        <p14:creationId xmlns:p14="http://schemas.microsoft.com/office/powerpoint/2010/main" val="1980030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8CB4380-CA41-423A-1AE4-0C29901F96E9}"/>
              </a:ext>
            </a:extLst>
          </p:cNvPr>
          <p:cNvSpPr txBox="1"/>
          <p:nvPr/>
        </p:nvSpPr>
        <p:spPr>
          <a:xfrm>
            <a:off x="1003299" y="2334801"/>
            <a:ext cx="5725645" cy="1959511"/>
          </a:xfrm>
          <a:prstGeom prst="rect">
            <a:avLst/>
          </a:prstGeom>
          <a:noFill/>
        </p:spPr>
        <p:txBody>
          <a:bodyPr wrap="square" lIns="91440" tIns="45720" rIns="91440" bIns="45720" anchor="t">
            <a:spAutoFit/>
          </a:bodyPr>
          <a:lstStyle/>
          <a:p>
            <a:pPr marL="171450" lvl="1" indent="-171450">
              <a:lnSpc>
                <a:spcPct val="150000"/>
              </a:lnSpc>
              <a:buFont typeface="Arial"/>
              <a:buChar char="•"/>
              <a:defRPr/>
            </a:pPr>
            <a:r>
              <a:rPr lang="en-US" sz="2000" dirty="0">
                <a:latin typeface="Roboto"/>
                <a:ea typeface="Roboto"/>
                <a:cs typeface="Roboto"/>
              </a:rPr>
              <a:t>Panel’s establishment </a:t>
            </a:r>
          </a:p>
          <a:p>
            <a:pPr marL="171450" lvl="1" indent="-171450">
              <a:lnSpc>
                <a:spcPct val="150000"/>
              </a:lnSpc>
              <a:buFont typeface="Arial"/>
              <a:buChar char="•"/>
              <a:defRPr/>
            </a:pPr>
            <a:r>
              <a:rPr lang="en-US" sz="2000" dirty="0">
                <a:latin typeface="Roboto"/>
                <a:ea typeface="Roboto"/>
                <a:cs typeface="Roboto"/>
              </a:rPr>
              <a:t>Foundational document of the Panel</a:t>
            </a:r>
            <a:endParaRPr lang="en-US" sz="2000" dirty="0">
              <a:latin typeface="Roboto" panose="02000000000000000000" pitchFamily="2" charset="0"/>
              <a:ea typeface="Roboto" panose="02000000000000000000" pitchFamily="2" charset="0"/>
              <a:cs typeface="Roboto"/>
            </a:endParaRPr>
          </a:p>
          <a:p>
            <a:pPr marL="171450" lvl="1" indent="-171450">
              <a:lnSpc>
                <a:spcPct val="150000"/>
              </a:lnSpc>
              <a:buFont typeface="Arial"/>
              <a:buChar char="•"/>
              <a:defRPr/>
            </a:pPr>
            <a:r>
              <a:rPr lang="en-US" sz="2000" dirty="0">
                <a:latin typeface="Roboto"/>
                <a:ea typeface="Roboto"/>
                <a:cs typeface="Roboto"/>
              </a:rPr>
              <a:t>Road to the first session of the Plenary</a:t>
            </a:r>
            <a:endParaRPr lang="en-US" sz="2000" dirty="0">
              <a:latin typeface="Roboto" panose="02000000000000000000" pitchFamily="2" charset="0"/>
              <a:ea typeface="Roboto" panose="02000000000000000000" pitchFamily="2" charset="0"/>
              <a:cs typeface="Roboto"/>
            </a:endParaRPr>
          </a:p>
          <a:p>
            <a:pPr marL="0" lvl="1">
              <a:lnSpc>
                <a:spcPct val="150000"/>
              </a:lnSpc>
              <a:defRPr/>
            </a:pPr>
            <a:endParaRPr lang="en-US" sz="2000" dirty="0">
              <a:latin typeface="Roboto" panose="02000000000000000000" pitchFamily="2" charset="0"/>
              <a:ea typeface="Roboto" panose="02000000000000000000" pitchFamily="2" charset="0"/>
              <a:cs typeface="Roboto"/>
            </a:endParaRPr>
          </a:p>
        </p:txBody>
      </p:sp>
      <p:sp>
        <p:nvSpPr>
          <p:cNvPr id="9" name="Rectangle 8">
            <a:extLst>
              <a:ext uri="{FF2B5EF4-FFF2-40B4-BE49-F238E27FC236}">
                <a16:creationId xmlns:a16="http://schemas.microsoft.com/office/drawing/2014/main" id="{546380B4-836B-84FE-FAC9-18A587A0358B}"/>
              </a:ext>
            </a:extLst>
          </p:cNvPr>
          <p:cNvSpPr/>
          <p:nvPr/>
        </p:nvSpPr>
        <p:spPr>
          <a:xfrm>
            <a:off x="6870702" y="0"/>
            <a:ext cx="5321298"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10" name="Straight Connector 9">
            <a:extLst>
              <a:ext uri="{FF2B5EF4-FFF2-40B4-BE49-F238E27FC236}">
                <a16:creationId xmlns:a16="http://schemas.microsoft.com/office/drawing/2014/main" id="{8EC4BF97-52E9-B32B-666C-2262FDB448CA}"/>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pic>
        <p:nvPicPr>
          <p:cNvPr id="2" name="Picture 1" descr="A blue hammer on a wooden stand&#10;&#10;AI-generated content may be incorrect.">
            <a:extLst>
              <a:ext uri="{FF2B5EF4-FFF2-40B4-BE49-F238E27FC236}">
                <a16:creationId xmlns:a16="http://schemas.microsoft.com/office/drawing/2014/main" id="{C1FAB28D-EEC4-C03D-FC16-488A69423F93}"/>
              </a:ext>
            </a:extLst>
          </p:cNvPr>
          <p:cNvPicPr>
            <a:picLocks noChangeAspect="1"/>
          </p:cNvPicPr>
          <p:nvPr/>
        </p:nvPicPr>
        <p:blipFill>
          <a:blip r:embed="rId3"/>
          <a:srcRect l="16723" r="25338"/>
          <a:stretch>
            <a:fillRect/>
          </a:stretch>
        </p:blipFill>
        <p:spPr>
          <a:xfrm>
            <a:off x="6881814" y="-733"/>
            <a:ext cx="5451944" cy="6859467"/>
          </a:xfrm>
          <a:prstGeom prst="rect">
            <a:avLst/>
          </a:prstGeom>
        </p:spPr>
      </p:pic>
      <p:sp>
        <p:nvSpPr>
          <p:cNvPr id="3" name="TextBox 2">
            <a:extLst>
              <a:ext uri="{FF2B5EF4-FFF2-40B4-BE49-F238E27FC236}">
                <a16:creationId xmlns:a16="http://schemas.microsoft.com/office/drawing/2014/main" id="{A2D47B13-8FED-3710-1AE9-412187A6D42E}"/>
              </a:ext>
            </a:extLst>
          </p:cNvPr>
          <p:cNvSpPr txBox="1"/>
          <p:nvPr/>
        </p:nvSpPr>
        <p:spPr>
          <a:xfrm>
            <a:off x="521208" y="5934670"/>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Roboto" panose="02000000000000000000" pitchFamily="2" charset="0"/>
                <a:ea typeface="Roboto" panose="02000000000000000000" pitchFamily="2" charset="0"/>
                <a:cs typeface="Roboto" panose="02000000000000000000" pitchFamily="2" charset="0"/>
              </a:rPr>
              <a:t>Sign up for ISP-CWP updates at: </a:t>
            </a:r>
            <a:r>
              <a:rPr lang="en-US" dirty="0">
                <a:latin typeface="Roboto" panose="02000000000000000000" pitchFamily="2" charset="0"/>
                <a:ea typeface="Roboto" panose="02000000000000000000" pitchFamily="2" charset="0"/>
                <a:cs typeface="Roboto" panose="02000000000000000000" pitchFamily="2" charset="0"/>
                <a:hlinkClick r:id="rId4"/>
              </a:rPr>
              <a:t>https://www.unep.org/isp-cwp/about</a:t>
            </a:r>
            <a:r>
              <a:rPr lang="en-US" dirty="0">
                <a:latin typeface="Roboto" panose="02000000000000000000" pitchFamily="2" charset="0"/>
                <a:ea typeface="Roboto" panose="02000000000000000000" pitchFamily="2" charset="0"/>
                <a:cs typeface="Roboto" panose="02000000000000000000" pitchFamily="2" charset="0"/>
              </a:rPr>
              <a:t>  </a:t>
            </a:r>
          </a:p>
          <a:p>
            <a:pPr algn="ctr"/>
            <a:endParaRPr lang="en-US" dirty="0"/>
          </a:p>
        </p:txBody>
      </p:sp>
      <p:sp>
        <p:nvSpPr>
          <p:cNvPr id="4" name="TextBox 3">
            <a:extLst>
              <a:ext uri="{FF2B5EF4-FFF2-40B4-BE49-F238E27FC236}">
                <a16:creationId xmlns:a16="http://schemas.microsoft.com/office/drawing/2014/main" id="{45FB577A-EA4D-BAE6-28AD-D20A0CB2D6D6}"/>
              </a:ext>
            </a:extLst>
          </p:cNvPr>
          <p:cNvSpPr txBox="1"/>
          <p:nvPr/>
        </p:nvSpPr>
        <p:spPr>
          <a:xfrm>
            <a:off x="602467" y="185532"/>
            <a:ext cx="5109402" cy="1200329"/>
          </a:xfrm>
          <a:prstGeom prst="rect">
            <a:avLst/>
          </a:prstGeom>
          <a:noFill/>
        </p:spPr>
        <p:txBody>
          <a:bodyPr wrap="square" lIns="91440" tIns="45720" rIns="91440" bIns="45720" anchor="t">
            <a:spAutoFit/>
          </a:bodyPr>
          <a:lstStyle/>
          <a:p>
            <a:pPr marL="0" lvl="1"/>
            <a:r>
              <a:rPr lang="en-US" sz="2400" b="1">
                <a:solidFill>
                  <a:srgbClr val="00AEEF"/>
                </a:solidFill>
                <a:latin typeface="Roboto"/>
                <a:ea typeface="Roboto"/>
                <a:cs typeface="Roboto"/>
              </a:rPr>
              <a:t>Intergovernmental Science-Policy Panel on Chemicals, Waste and Pollution (ISP-CWP) </a:t>
            </a:r>
            <a:endParaRPr lang="en-US" sz="2400"/>
          </a:p>
        </p:txBody>
      </p:sp>
    </p:spTree>
    <p:extLst>
      <p:ext uri="{BB962C8B-B14F-4D97-AF65-F5344CB8AC3E}">
        <p14:creationId xmlns:p14="http://schemas.microsoft.com/office/powerpoint/2010/main" val="4152799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4A21FBB-4687-4BCA-178D-731F226A7BA2}"/>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FFF61A4E-3068-326A-AAD2-F7DA80671C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53613" y="5544414"/>
            <a:ext cx="1078396" cy="1078396"/>
          </a:xfrm>
          <a:prstGeom prst="rect">
            <a:avLst/>
          </a:prstGeom>
        </p:spPr>
      </p:pic>
      <p:sp>
        <p:nvSpPr>
          <p:cNvPr id="2" name="TextBox 1">
            <a:extLst>
              <a:ext uri="{FF2B5EF4-FFF2-40B4-BE49-F238E27FC236}">
                <a16:creationId xmlns:a16="http://schemas.microsoft.com/office/drawing/2014/main" id="{1E3D3C77-E2CE-241E-BC35-3570E0BBD7BD}"/>
              </a:ext>
            </a:extLst>
          </p:cNvPr>
          <p:cNvSpPr txBox="1"/>
          <p:nvPr/>
        </p:nvSpPr>
        <p:spPr>
          <a:xfrm>
            <a:off x="1003299" y="486196"/>
            <a:ext cx="8369301" cy="954107"/>
          </a:xfrm>
          <a:prstGeom prst="rect">
            <a:avLst/>
          </a:prstGeom>
          <a:noFill/>
        </p:spPr>
        <p:txBody>
          <a:bodyPr wrap="square" lIns="91440" tIns="45720" rIns="91440" bIns="45720" anchor="t">
            <a:spAutoFit/>
          </a:bodyPr>
          <a:lstStyle/>
          <a:p>
            <a:pPr marL="0" lvl="1"/>
            <a:r>
              <a:rPr lang="en-US" sz="3600" b="1">
                <a:solidFill>
                  <a:srgbClr val="00AEEF"/>
                </a:solidFill>
                <a:latin typeface="Roboto"/>
                <a:ea typeface="Roboto"/>
                <a:cs typeface="Roboto"/>
              </a:rPr>
              <a:t>UNEA resolution 5/8 </a:t>
            </a:r>
            <a:br>
              <a:rPr lang="en-US" sz="3600" b="1">
                <a:solidFill>
                  <a:srgbClr val="00AEEF"/>
                </a:solidFill>
                <a:latin typeface="Roboto"/>
                <a:ea typeface="Roboto"/>
                <a:cs typeface="Roboto"/>
              </a:rPr>
            </a:br>
            <a:endParaRPr lang="en-US" sz="2000"/>
          </a:p>
        </p:txBody>
      </p:sp>
      <p:sp>
        <p:nvSpPr>
          <p:cNvPr id="5" name="TextBox 4">
            <a:extLst>
              <a:ext uri="{FF2B5EF4-FFF2-40B4-BE49-F238E27FC236}">
                <a16:creationId xmlns:a16="http://schemas.microsoft.com/office/drawing/2014/main" id="{DA4D9B52-D47A-7A5D-2F51-D09B26711742}"/>
              </a:ext>
            </a:extLst>
          </p:cNvPr>
          <p:cNvSpPr txBox="1"/>
          <p:nvPr/>
        </p:nvSpPr>
        <p:spPr>
          <a:xfrm>
            <a:off x="1003299" y="1563414"/>
            <a:ext cx="6178550" cy="400110"/>
          </a:xfrm>
          <a:prstGeom prst="rect">
            <a:avLst/>
          </a:prstGeom>
          <a:noFill/>
        </p:spPr>
        <p:txBody>
          <a:bodyPr wrap="square" lIns="91440" tIns="45720" rIns="91440" bIns="45720" anchor="t">
            <a:spAutoFit/>
          </a:bodyPr>
          <a:lstStyle/>
          <a:p>
            <a:pPr marL="0" lvl="1"/>
            <a:r>
              <a:rPr lang="en-US" sz="2000">
                <a:latin typeface="Roboto"/>
                <a:ea typeface="Roboto"/>
                <a:cs typeface="Roboto"/>
              </a:rPr>
              <a:t>Adopted on 2 March 2022  </a:t>
            </a:r>
            <a:endParaRPr lang="en-US" sz="2000" b="0">
              <a:latin typeface="Roboto"/>
              <a:ea typeface="Roboto"/>
              <a:cs typeface="Roboto"/>
            </a:endParaRPr>
          </a:p>
        </p:txBody>
      </p:sp>
      <p:sp>
        <p:nvSpPr>
          <p:cNvPr id="9" name="TextBox 8">
            <a:extLst>
              <a:ext uri="{FF2B5EF4-FFF2-40B4-BE49-F238E27FC236}">
                <a16:creationId xmlns:a16="http://schemas.microsoft.com/office/drawing/2014/main" id="{E0626B0B-DED0-CD12-2859-192AD0A23532}"/>
              </a:ext>
            </a:extLst>
          </p:cNvPr>
          <p:cNvSpPr txBox="1"/>
          <p:nvPr/>
        </p:nvSpPr>
        <p:spPr>
          <a:xfrm>
            <a:off x="929739" y="2349256"/>
            <a:ext cx="7495123" cy="4042132"/>
          </a:xfrm>
          <a:prstGeom prst="rect">
            <a:avLst/>
          </a:prstGeom>
          <a:noFill/>
        </p:spPr>
        <p:txBody>
          <a:bodyPr wrap="square" lIns="91440" tIns="45720" rIns="91440" bIns="45720" numCol="1" anchor="t">
            <a:spAutoFit/>
          </a:bodyPr>
          <a:lstStyle/>
          <a:p>
            <a:pPr marL="359410" indent="-285750">
              <a:lnSpc>
                <a:spcPct val="150000"/>
              </a:lnSpc>
              <a:spcBef>
                <a:spcPts val="600"/>
              </a:spcBef>
              <a:spcAft>
                <a:spcPts val="600"/>
              </a:spcAft>
              <a:buFont typeface="Arial" panose="020B0604020202020204" pitchFamily="34" charset="0"/>
              <a:buChar char="•"/>
              <a:defRPr/>
            </a:pPr>
            <a:r>
              <a:rPr lang="en-US" sz="2000" i="1" dirty="0">
                <a:latin typeface="Roboto"/>
                <a:ea typeface="Roboto"/>
                <a:cs typeface="Roboto"/>
              </a:rPr>
              <a:t>Decided</a:t>
            </a:r>
            <a:r>
              <a:rPr lang="en-US" sz="2000" dirty="0">
                <a:latin typeface="Roboto"/>
                <a:ea typeface="Roboto"/>
                <a:cs typeface="Roboto"/>
              </a:rPr>
              <a:t> that a science-policy panel should be established to contribute further to the sound management of chemicals and waste and prevent pollution</a:t>
            </a:r>
          </a:p>
          <a:p>
            <a:pPr marL="359410" lvl="1" indent="-285750">
              <a:lnSpc>
                <a:spcPct val="150000"/>
              </a:lnSpc>
              <a:spcBef>
                <a:spcPts val="600"/>
              </a:spcBef>
              <a:spcAft>
                <a:spcPts val="600"/>
              </a:spcAft>
              <a:buFont typeface="Arial" panose="020B0604020202020204" pitchFamily="34" charset="0"/>
              <a:buChar char="•"/>
              <a:defRPr/>
            </a:pPr>
            <a:r>
              <a:rPr lang="en-US" sz="2000" i="1" dirty="0">
                <a:latin typeface="Roboto"/>
                <a:ea typeface="Roboto"/>
                <a:cs typeface="Roboto"/>
              </a:rPr>
              <a:t>Convened</a:t>
            </a:r>
            <a:r>
              <a:rPr lang="en-US" sz="2000" dirty="0">
                <a:latin typeface="Roboto"/>
                <a:ea typeface="Roboto"/>
                <a:cs typeface="Roboto"/>
              </a:rPr>
              <a:t> an ad hoc open-ended working group (OEWG) to prepare proposals for the science-policy panel </a:t>
            </a:r>
          </a:p>
          <a:p>
            <a:pPr marL="359410" lvl="1" indent="-285750">
              <a:lnSpc>
                <a:spcPct val="150000"/>
              </a:lnSpc>
              <a:spcBef>
                <a:spcPts val="600"/>
              </a:spcBef>
              <a:spcAft>
                <a:spcPts val="600"/>
              </a:spcAft>
              <a:buFont typeface="Arial" panose="020B0604020202020204" pitchFamily="34" charset="0"/>
              <a:buChar char="•"/>
              <a:defRPr/>
            </a:pPr>
            <a:r>
              <a:rPr lang="en-US" sz="2000" i="1" dirty="0">
                <a:latin typeface="Roboto"/>
                <a:ea typeface="Roboto"/>
                <a:cs typeface="Roboto"/>
              </a:rPr>
              <a:t>Requested</a:t>
            </a:r>
            <a:r>
              <a:rPr lang="en-US" sz="2000" dirty="0">
                <a:latin typeface="Roboto"/>
                <a:ea typeface="Roboto"/>
                <a:cs typeface="Roboto"/>
              </a:rPr>
              <a:t> the UNEP Executive Director to convene an intergovernmental meeting to consider the establishment of the science-policy panel </a:t>
            </a:r>
            <a:endParaRPr lang="en-US" sz="4400" dirty="0">
              <a:latin typeface="Roboto"/>
              <a:ea typeface="Roboto"/>
              <a:cs typeface="Roboto"/>
            </a:endParaRPr>
          </a:p>
        </p:txBody>
      </p:sp>
      <p:cxnSp>
        <p:nvCxnSpPr>
          <p:cNvPr id="10" name="Straight Connector 9">
            <a:extLst>
              <a:ext uri="{FF2B5EF4-FFF2-40B4-BE49-F238E27FC236}">
                <a16:creationId xmlns:a16="http://schemas.microsoft.com/office/drawing/2014/main" id="{1497EE74-B75F-2FFE-18FE-3D006C212F1C}"/>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E105E0D-F4FE-2D45-13ED-600331909998}"/>
              </a:ext>
            </a:extLst>
          </p:cNvPr>
          <p:cNvSpPr txBox="1"/>
          <p:nvPr/>
        </p:nvSpPr>
        <p:spPr>
          <a:xfrm>
            <a:off x="9888494" y="3961675"/>
            <a:ext cx="1643515"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3852452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D90F7-A589-E465-4AE8-E122DE6238AB}"/>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7F37260A-1C19-CCCE-4CA6-74CF4954A63B}"/>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0D902FDF-6DCD-E6D0-1050-72ACE81D29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5372D68B-C053-93A0-8BBC-164AD47AF725}"/>
              </a:ext>
            </a:extLst>
          </p:cNvPr>
          <p:cNvSpPr txBox="1"/>
          <p:nvPr/>
        </p:nvSpPr>
        <p:spPr>
          <a:xfrm>
            <a:off x="1003298" y="486196"/>
            <a:ext cx="8939487" cy="1077218"/>
          </a:xfrm>
          <a:prstGeom prst="rect">
            <a:avLst/>
          </a:prstGeom>
          <a:noFill/>
        </p:spPr>
        <p:txBody>
          <a:bodyPr wrap="square" lIns="91440" tIns="45720" rIns="91440" bIns="45720" anchor="t">
            <a:spAutoFit/>
          </a:bodyPr>
          <a:lstStyle/>
          <a:p>
            <a:pPr marL="0" lvl="1"/>
            <a:r>
              <a:rPr lang="en-US" sz="3200" b="1">
                <a:solidFill>
                  <a:srgbClr val="00AEEF"/>
                </a:solidFill>
                <a:latin typeface="Roboto"/>
                <a:ea typeface="Roboto"/>
                <a:cs typeface="Roboto"/>
              </a:rPr>
              <a:t>Road to the Intergovernmental Science-Policy Panel on Chemicals, Waste and Pollution</a:t>
            </a:r>
            <a:endParaRPr lang="en-US"/>
          </a:p>
        </p:txBody>
      </p:sp>
      <p:sp>
        <p:nvSpPr>
          <p:cNvPr id="5" name="TextBox 4">
            <a:extLst>
              <a:ext uri="{FF2B5EF4-FFF2-40B4-BE49-F238E27FC236}">
                <a16:creationId xmlns:a16="http://schemas.microsoft.com/office/drawing/2014/main" id="{AE0D131E-BFB5-CBC1-8AAC-F9AB47761823}"/>
              </a:ext>
            </a:extLst>
          </p:cNvPr>
          <p:cNvSpPr txBox="1"/>
          <p:nvPr/>
        </p:nvSpPr>
        <p:spPr>
          <a:xfrm>
            <a:off x="1003299" y="1563414"/>
            <a:ext cx="8506883" cy="338554"/>
          </a:xfrm>
          <a:prstGeom prst="rect">
            <a:avLst/>
          </a:prstGeom>
          <a:noFill/>
        </p:spPr>
        <p:txBody>
          <a:bodyPr wrap="square" lIns="91440" tIns="45720" rIns="91440" bIns="45720" anchor="t">
            <a:spAutoFit/>
          </a:bodyPr>
          <a:lstStyle/>
          <a:p>
            <a:pPr marL="0" lvl="1"/>
            <a:r>
              <a:rPr lang="en-US" sz="1600">
                <a:latin typeface="Roboto"/>
                <a:ea typeface="Roboto"/>
                <a:cs typeface="Roboto"/>
              </a:rPr>
              <a:t>Sessions of the ad hoc open-ended working group and the Intergovernmental Meeting </a:t>
            </a:r>
            <a:endParaRPr lang="en-US" sz="1600" b="0">
              <a:latin typeface="Roboto"/>
              <a:ea typeface="Roboto"/>
              <a:cs typeface="Roboto"/>
            </a:endParaRPr>
          </a:p>
        </p:txBody>
      </p:sp>
      <p:cxnSp>
        <p:nvCxnSpPr>
          <p:cNvPr id="10" name="Straight Connector 9">
            <a:extLst>
              <a:ext uri="{FF2B5EF4-FFF2-40B4-BE49-F238E27FC236}">
                <a16:creationId xmlns:a16="http://schemas.microsoft.com/office/drawing/2014/main" id="{B8D14710-E839-E012-48A8-2078B7B4FD93}"/>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6" name="Arrow: Chevron 5">
            <a:extLst>
              <a:ext uri="{FF2B5EF4-FFF2-40B4-BE49-F238E27FC236}">
                <a16:creationId xmlns:a16="http://schemas.microsoft.com/office/drawing/2014/main" id="{A40A84F1-C738-3D9D-2001-AF860B825983}"/>
              </a:ext>
            </a:extLst>
          </p:cNvPr>
          <p:cNvSpPr/>
          <p:nvPr/>
        </p:nvSpPr>
        <p:spPr>
          <a:xfrm>
            <a:off x="1272376" y="3842417"/>
            <a:ext cx="1827079" cy="637912"/>
          </a:xfrm>
          <a:prstGeom prst="chevron">
            <a:avLst/>
          </a:prstGeom>
          <a:solidFill>
            <a:schemeClr val="accent1">
              <a:lumMod val="20000"/>
              <a:lumOff val="8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2022</a:t>
            </a: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Arrow: Chevron 10">
            <a:extLst>
              <a:ext uri="{FF2B5EF4-FFF2-40B4-BE49-F238E27FC236}">
                <a16:creationId xmlns:a16="http://schemas.microsoft.com/office/drawing/2014/main" id="{C7C45901-677C-920D-08AB-FAD53F4E57A9}"/>
              </a:ext>
            </a:extLst>
          </p:cNvPr>
          <p:cNvSpPr/>
          <p:nvPr/>
        </p:nvSpPr>
        <p:spPr>
          <a:xfrm>
            <a:off x="3120621" y="3842415"/>
            <a:ext cx="1827079" cy="637912"/>
          </a:xfrm>
          <a:prstGeom prst="chevron">
            <a:avLst/>
          </a:prstGeom>
          <a:solidFill>
            <a:schemeClr val="accent1">
              <a:lumMod val="40000"/>
              <a:lumOff val="6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2023</a:t>
            </a: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Arrow: Chevron 12">
            <a:extLst>
              <a:ext uri="{FF2B5EF4-FFF2-40B4-BE49-F238E27FC236}">
                <a16:creationId xmlns:a16="http://schemas.microsoft.com/office/drawing/2014/main" id="{C0AA1D96-0B5B-28E9-4122-C3F6E6ABEB71}"/>
              </a:ext>
            </a:extLst>
          </p:cNvPr>
          <p:cNvSpPr/>
          <p:nvPr/>
        </p:nvSpPr>
        <p:spPr>
          <a:xfrm>
            <a:off x="4926534" y="3842415"/>
            <a:ext cx="1827079" cy="637912"/>
          </a:xfrm>
          <a:prstGeom prst="chevron">
            <a:avLst/>
          </a:prstGeom>
          <a:solidFill>
            <a:schemeClr val="accent1">
              <a:lumMod val="60000"/>
              <a:lumOff val="4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2024</a:t>
            </a: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Arrow: Chevron 14">
            <a:extLst>
              <a:ext uri="{FF2B5EF4-FFF2-40B4-BE49-F238E27FC236}">
                <a16:creationId xmlns:a16="http://schemas.microsoft.com/office/drawing/2014/main" id="{767A7283-03B4-A05D-E3C1-0A6FFA8306DC}"/>
              </a:ext>
            </a:extLst>
          </p:cNvPr>
          <p:cNvSpPr/>
          <p:nvPr/>
        </p:nvSpPr>
        <p:spPr>
          <a:xfrm>
            <a:off x="6753614" y="3842415"/>
            <a:ext cx="1827079" cy="637912"/>
          </a:xfrm>
          <a:prstGeom prst="chevron">
            <a:avLst/>
          </a:prstGeom>
          <a:solidFill>
            <a:schemeClr val="accent1">
              <a:lumMod val="75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2025</a:t>
            </a: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9" name="Straight Connector 18">
            <a:extLst>
              <a:ext uri="{FF2B5EF4-FFF2-40B4-BE49-F238E27FC236}">
                <a16:creationId xmlns:a16="http://schemas.microsoft.com/office/drawing/2014/main" id="{E273925C-6162-3EEE-B509-6417BB41CDC5}"/>
              </a:ext>
            </a:extLst>
          </p:cNvPr>
          <p:cNvCxnSpPr>
            <a:cxnSpLocks/>
          </p:cNvCxnSpPr>
          <p:nvPr/>
        </p:nvCxnSpPr>
        <p:spPr>
          <a:xfrm flipV="1">
            <a:off x="1719653" y="3311592"/>
            <a:ext cx="0" cy="530822"/>
          </a:xfrm>
          <a:prstGeom prst="line">
            <a:avLst/>
          </a:prstGeom>
          <a:ln w="127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755EF6D-D4DD-AE53-5FB5-3A9EFD8DF647}"/>
              </a:ext>
            </a:extLst>
          </p:cNvPr>
          <p:cNvCxnSpPr>
            <a:cxnSpLocks/>
          </p:cNvCxnSpPr>
          <p:nvPr/>
        </p:nvCxnSpPr>
        <p:spPr>
          <a:xfrm flipV="1">
            <a:off x="2357052" y="4459161"/>
            <a:ext cx="0" cy="571781"/>
          </a:xfrm>
          <a:prstGeom prst="line">
            <a:avLst/>
          </a:prstGeom>
          <a:ln w="127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2C8064E-1780-AC32-9C67-1453C73E56BE}"/>
              </a:ext>
            </a:extLst>
          </p:cNvPr>
          <p:cNvCxnSpPr>
            <a:cxnSpLocks/>
          </p:cNvCxnSpPr>
          <p:nvPr/>
        </p:nvCxnSpPr>
        <p:spPr>
          <a:xfrm flipV="1">
            <a:off x="4414044" y="2927467"/>
            <a:ext cx="0" cy="914947"/>
          </a:xfrm>
          <a:prstGeom prst="line">
            <a:avLst/>
          </a:prstGeom>
          <a:ln w="127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B7ABA286-F335-9E3E-53E4-48290E6B0083}"/>
              </a:ext>
            </a:extLst>
          </p:cNvPr>
          <p:cNvSpPr txBox="1"/>
          <p:nvPr/>
        </p:nvSpPr>
        <p:spPr>
          <a:xfrm>
            <a:off x="319908" y="2295929"/>
            <a:ext cx="3088450" cy="1015663"/>
          </a:xfrm>
          <a:prstGeom prst="rect">
            <a:avLst/>
          </a:prstGeom>
          <a:noFill/>
          <a:ln w="12700">
            <a:solidFill>
              <a:schemeClr val="accent1">
                <a:lumMod val="40000"/>
                <a:lumOff val="60000"/>
              </a:schemeClr>
            </a:solidFill>
          </a:ln>
        </p:spPr>
        <p:txBody>
          <a:bodyPr wrap="square" lIns="91440" tIns="45720" rIns="91440" bIns="45720" rtlCol="0" anchor="t">
            <a:spAutoFit/>
          </a:bodyPr>
          <a:lstStyle/>
          <a:p>
            <a:pPr algn="ctr"/>
            <a:r>
              <a:rPr lang="en-US" sz="1200" b="1">
                <a:solidFill>
                  <a:prstClr val="black"/>
                </a:solidFill>
                <a:latin typeface="Roboto"/>
                <a:ea typeface="Roboto"/>
                <a:cs typeface="Roboto"/>
              </a:rPr>
              <a:t>2 March 2022: </a:t>
            </a:r>
            <a:r>
              <a:rPr lang="en-US" sz="1200">
                <a:solidFill>
                  <a:prstClr val="black"/>
                </a:solidFill>
                <a:latin typeface="Roboto"/>
                <a:ea typeface="Roboto"/>
                <a:cs typeface="Roboto"/>
              </a:rPr>
              <a:t>U</a:t>
            </a:r>
            <a:r>
              <a:rPr kumimoji="0" lang="en-US" sz="1200" i="0" u="none" strike="noStrike" kern="1200" cap="none" spc="0" normalizeH="0" baseline="0" noProof="0">
                <a:ln>
                  <a:noFill/>
                </a:ln>
                <a:solidFill>
                  <a:prstClr val="black"/>
                </a:solidFill>
                <a:effectLst/>
                <a:uLnTx/>
                <a:uFillTx/>
                <a:latin typeface="Roboto"/>
                <a:ea typeface="Roboto"/>
                <a:cs typeface="Roboto"/>
              </a:rPr>
              <a:t>NEA </a:t>
            </a:r>
            <a:r>
              <a:rPr lang="en-US" sz="1200">
                <a:solidFill>
                  <a:prstClr val="black"/>
                </a:solidFill>
                <a:latin typeface="Roboto"/>
                <a:ea typeface="Roboto"/>
                <a:cs typeface="Roboto"/>
              </a:rPr>
              <a:t>decided that a science-policy panel should be established to advance the sound management of chemicals and waste and prevent pollution (</a:t>
            </a:r>
            <a:r>
              <a:rPr lang="en-US" sz="1200" b="1">
                <a:solidFill>
                  <a:prstClr val="black"/>
                </a:solidFill>
                <a:latin typeface="Roboto"/>
                <a:ea typeface="Roboto"/>
                <a:cs typeface="Roboto"/>
              </a:rPr>
              <a:t>UNEA resolution 5/8</a:t>
            </a:r>
            <a:r>
              <a:rPr lang="en-US" sz="1200">
                <a:solidFill>
                  <a:prstClr val="black"/>
                </a:solidFill>
                <a:latin typeface="Roboto"/>
                <a:ea typeface="Roboto"/>
                <a:cs typeface="Roboto"/>
              </a:rPr>
              <a:t>)</a:t>
            </a:r>
            <a:endParaRPr lang="en-GB" sz="1200" b="0" i="0" u="none" strike="noStrike" kern="1200" cap="none" spc="0" normalizeH="0" baseline="0" noProof="0">
              <a:ln>
                <a:noFill/>
              </a:ln>
              <a:solidFill>
                <a:prstClr val="black"/>
              </a:solidFill>
              <a:effectLst/>
              <a:uLnTx/>
              <a:uFillTx/>
              <a:latin typeface="Roboto"/>
              <a:ea typeface="Roboto"/>
              <a:cs typeface="Roboto"/>
            </a:endParaRPr>
          </a:p>
        </p:txBody>
      </p:sp>
      <p:sp>
        <p:nvSpPr>
          <p:cNvPr id="27" name="TextBox 26">
            <a:extLst>
              <a:ext uri="{FF2B5EF4-FFF2-40B4-BE49-F238E27FC236}">
                <a16:creationId xmlns:a16="http://schemas.microsoft.com/office/drawing/2014/main" id="{87840EA0-B7D8-03F6-8BFD-FFD9A8AE9495}"/>
              </a:ext>
            </a:extLst>
          </p:cNvPr>
          <p:cNvSpPr txBox="1"/>
          <p:nvPr/>
        </p:nvSpPr>
        <p:spPr>
          <a:xfrm>
            <a:off x="1486013" y="5030942"/>
            <a:ext cx="2967177" cy="830997"/>
          </a:xfrm>
          <a:prstGeom prst="rect">
            <a:avLst/>
          </a:prstGeom>
          <a:noFill/>
          <a:ln w="12700">
            <a:solidFill>
              <a:schemeClr val="accent1">
                <a:lumMod val="40000"/>
                <a:lumOff val="60000"/>
              </a:schemeClr>
            </a:solidFill>
          </a:ln>
        </p:spPr>
        <p:txBody>
          <a:bodyPr wrap="square" lIns="91440" tIns="45720" rIns="91440" bIns="45720" rtlCol="0" anchor="t">
            <a:spAutoFit/>
          </a:bodyPr>
          <a:lstStyle/>
          <a:p>
            <a:pPr lvl="0" algn="ctr">
              <a:defRPr/>
            </a:pPr>
            <a:r>
              <a:rPr lang="en-US" sz="1200" b="1">
                <a:solidFill>
                  <a:prstClr val="black"/>
                </a:solidFill>
                <a:latin typeface="Roboto"/>
                <a:ea typeface="Roboto"/>
                <a:cs typeface="Roboto"/>
              </a:rPr>
              <a:t>October 2022 and January 2023</a:t>
            </a:r>
            <a:r>
              <a:rPr lang="en-US" sz="1200">
                <a:solidFill>
                  <a:prstClr val="black"/>
                </a:solidFill>
                <a:latin typeface="Roboto"/>
                <a:ea typeface="Roboto"/>
                <a:cs typeface="Roboto"/>
              </a:rPr>
              <a:t>: </a:t>
            </a:r>
            <a:r>
              <a:rPr kumimoji="0" lang="en-US" sz="1200" b="0" i="0" u="none" strike="noStrike" kern="1200" cap="none" spc="0" normalizeH="0" baseline="0" noProof="0">
                <a:ln>
                  <a:noFill/>
                </a:ln>
                <a:solidFill>
                  <a:prstClr val="black"/>
                </a:solidFill>
                <a:effectLst/>
                <a:uLnTx/>
                <a:uFillTx/>
                <a:latin typeface="Roboto"/>
                <a:ea typeface="Roboto"/>
                <a:cs typeface="Roboto"/>
              </a:rPr>
              <a:t>The first session of the OEWG, held in two parts, online and in Bangkok, Thailand (</a:t>
            </a:r>
            <a:r>
              <a:rPr kumimoji="0" lang="en-US" sz="1200" b="1" i="0" u="none" strike="noStrike" kern="1200" cap="none" spc="0" normalizeH="0" baseline="0" noProof="0">
                <a:ln>
                  <a:noFill/>
                </a:ln>
                <a:solidFill>
                  <a:prstClr val="black"/>
                </a:solidFill>
                <a:effectLst/>
                <a:uLnTx/>
                <a:uFillTx/>
                <a:latin typeface="Roboto"/>
                <a:ea typeface="Roboto"/>
                <a:cs typeface="Roboto"/>
              </a:rPr>
              <a:t>OEWG 1.1 &amp; 1.2</a:t>
            </a:r>
            <a:r>
              <a:rPr kumimoji="0" lang="en-US" sz="1200" b="0" i="0" u="none" strike="noStrike" kern="1200" cap="none" spc="0" normalizeH="0" baseline="0" noProof="0">
                <a:ln>
                  <a:noFill/>
                </a:ln>
                <a:solidFill>
                  <a:prstClr val="black"/>
                </a:solidFill>
                <a:effectLst/>
                <a:uLnTx/>
                <a:uFillTx/>
                <a:latin typeface="Roboto"/>
                <a:ea typeface="Roboto"/>
                <a:cs typeface="Roboto"/>
              </a:rPr>
              <a:t>)</a:t>
            </a:r>
            <a:endParaRPr lang="en-GB" sz="1200" b="0" i="0" u="none" strike="noStrike" kern="1200" cap="none" spc="0" normalizeH="0" baseline="0" noProof="0">
              <a:ln>
                <a:noFill/>
              </a:ln>
              <a:solidFill>
                <a:prstClr val="black"/>
              </a:solidFill>
              <a:effectLst/>
              <a:uLnTx/>
              <a:uFillTx/>
              <a:latin typeface="Roboto"/>
              <a:ea typeface="Roboto"/>
              <a:cs typeface="Roboto"/>
            </a:endParaRPr>
          </a:p>
        </p:txBody>
      </p:sp>
      <p:cxnSp>
        <p:nvCxnSpPr>
          <p:cNvPr id="29" name="Straight Connector 28">
            <a:extLst>
              <a:ext uri="{FF2B5EF4-FFF2-40B4-BE49-F238E27FC236}">
                <a16:creationId xmlns:a16="http://schemas.microsoft.com/office/drawing/2014/main" id="{D1077D3A-C34D-6CD7-70A6-C4F186C53AA1}"/>
              </a:ext>
            </a:extLst>
          </p:cNvPr>
          <p:cNvCxnSpPr>
            <a:cxnSpLocks/>
          </p:cNvCxnSpPr>
          <p:nvPr/>
        </p:nvCxnSpPr>
        <p:spPr>
          <a:xfrm flipV="1">
            <a:off x="3774430" y="4459161"/>
            <a:ext cx="0" cy="571781"/>
          </a:xfrm>
          <a:prstGeom prst="line">
            <a:avLst/>
          </a:prstGeom>
          <a:ln w="127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069AA859-6E66-9A75-71C1-2582C1D264C3}"/>
              </a:ext>
            </a:extLst>
          </p:cNvPr>
          <p:cNvSpPr txBox="1"/>
          <p:nvPr/>
        </p:nvSpPr>
        <p:spPr>
          <a:xfrm>
            <a:off x="3635123" y="2295929"/>
            <a:ext cx="2428183" cy="646331"/>
          </a:xfrm>
          <a:prstGeom prst="rect">
            <a:avLst/>
          </a:prstGeom>
          <a:noFill/>
          <a:ln w="12700">
            <a:solidFill>
              <a:schemeClr val="accent1">
                <a:lumMod val="40000"/>
                <a:lumOff val="60000"/>
              </a:schemeClr>
            </a:solidFill>
          </a:ln>
        </p:spPr>
        <p:txBody>
          <a:bodyPr wrap="square" lIns="91440" tIns="45720" rIns="91440" bIns="45720" rtlCol="0" anchor="t">
            <a:spAutoFit/>
          </a:bodyPr>
          <a:lstStyle/>
          <a:p>
            <a:pPr algn="ctr">
              <a:defRPr/>
            </a:pPr>
            <a:r>
              <a:rPr kumimoji="0" lang="en-US" sz="1200" b="1" i="0" u="none" strike="noStrike" kern="1200" cap="none" spc="0" normalizeH="0" baseline="0" noProof="0">
                <a:ln>
                  <a:noFill/>
                </a:ln>
                <a:solidFill>
                  <a:prstClr val="black"/>
                </a:solidFill>
                <a:effectLst/>
                <a:uLnTx/>
                <a:uFillTx/>
                <a:latin typeface="Roboto"/>
                <a:ea typeface="Roboto"/>
                <a:cs typeface="Roboto"/>
              </a:rPr>
              <a:t>Dec. 2023</a:t>
            </a:r>
            <a:r>
              <a:rPr kumimoji="0" lang="en-US" sz="1200" b="0" i="0" u="none" strike="noStrike" kern="1200" cap="none" spc="0" normalizeH="0" baseline="0" noProof="0">
                <a:ln>
                  <a:noFill/>
                </a:ln>
                <a:solidFill>
                  <a:prstClr val="black"/>
                </a:solidFill>
                <a:effectLst/>
                <a:uLnTx/>
                <a:uFillTx/>
                <a:latin typeface="Roboto"/>
                <a:ea typeface="Roboto"/>
                <a:cs typeface="Roboto"/>
              </a:rPr>
              <a:t>:</a:t>
            </a:r>
            <a:r>
              <a:rPr lang="en-US" sz="1200">
                <a:solidFill>
                  <a:prstClr val="black"/>
                </a:solidFill>
                <a:latin typeface="Roboto"/>
                <a:ea typeface="Roboto"/>
                <a:cs typeface="Roboto"/>
              </a:rPr>
              <a:t> Second session of the OEWG, held in Nairobi, Kenya</a:t>
            </a:r>
            <a:r>
              <a:rPr kumimoji="0" lang="en-US" sz="1200" b="0" i="0" u="none" strike="noStrike" kern="1200" cap="none" spc="0" normalizeH="0" baseline="0" noProof="0">
                <a:ln>
                  <a:noFill/>
                </a:ln>
                <a:solidFill>
                  <a:prstClr val="black"/>
                </a:solidFill>
                <a:effectLst/>
                <a:uLnTx/>
                <a:uFillTx/>
                <a:latin typeface="Roboto"/>
                <a:ea typeface="Roboto"/>
                <a:cs typeface="Roboto"/>
              </a:rPr>
              <a:t> </a:t>
            </a:r>
            <a:r>
              <a:rPr lang="en-US" sz="1200">
                <a:solidFill>
                  <a:prstClr val="black"/>
                </a:solidFill>
                <a:latin typeface="Roboto"/>
                <a:ea typeface="Roboto"/>
                <a:cs typeface="Roboto"/>
              </a:rPr>
              <a:t>(</a:t>
            </a:r>
            <a:r>
              <a:rPr kumimoji="0" lang="en-US" sz="1200" b="1" i="0" u="none" strike="noStrike" kern="1200" cap="none" spc="0" normalizeH="0" baseline="0" noProof="0">
                <a:ln>
                  <a:noFill/>
                </a:ln>
                <a:solidFill>
                  <a:prstClr val="black"/>
                </a:solidFill>
                <a:effectLst/>
                <a:uLnTx/>
                <a:uFillTx/>
                <a:latin typeface="Roboto"/>
                <a:ea typeface="Roboto"/>
                <a:cs typeface="Roboto"/>
              </a:rPr>
              <a:t>OEWG 2</a:t>
            </a:r>
            <a:r>
              <a:rPr lang="en-US" sz="1200">
                <a:solidFill>
                  <a:prstClr val="black"/>
                </a:solidFill>
                <a:latin typeface="Roboto"/>
                <a:ea typeface="Roboto"/>
                <a:cs typeface="Roboto"/>
              </a:rPr>
              <a:t>)</a:t>
            </a:r>
            <a:endParaRPr lang="en-GB" sz="1200" b="0" i="0" u="none" strike="noStrike" kern="1200" cap="none" spc="0" normalizeH="0" baseline="0" noProof="0">
              <a:ln>
                <a:noFill/>
              </a:ln>
              <a:solidFill>
                <a:prstClr val="black"/>
              </a:solidFill>
              <a:effectLst/>
              <a:uLnTx/>
              <a:uFillTx/>
              <a:latin typeface="Roboto"/>
              <a:ea typeface="Roboto"/>
              <a:cs typeface="Roboto"/>
            </a:endParaRPr>
          </a:p>
        </p:txBody>
      </p:sp>
      <p:cxnSp>
        <p:nvCxnSpPr>
          <p:cNvPr id="33" name="Straight Connector 32">
            <a:extLst>
              <a:ext uri="{FF2B5EF4-FFF2-40B4-BE49-F238E27FC236}">
                <a16:creationId xmlns:a16="http://schemas.microsoft.com/office/drawing/2014/main" id="{4E909101-2139-C794-2D57-21009683A099}"/>
              </a:ext>
            </a:extLst>
          </p:cNvPr>
          <p:cNvCxnSpPr>
            <a:cxnSpLocks/>
          </p:cNvCxnSpPr>
          <p:nvPr/>
        </p:nvCxnSpPr>
        <p:spPr>
          <a:xfrm flipV="1">
            <a:off x="5867183" y="4469671"/>
            <a:ext cx="0" cy="561271"/>
          </a:xfrm>
          <a:prstGeom prst="line">
            <a:avLst/>
          </a:prstGeom>
          <a:ln w="127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2DA2A8BE-2264-0758-B5F4-5D2AAAAB57AC}"/>
              </a:ext>
            </a:extLst>
          </p:cNvPr>
          <p:cNvSpPr txBox="1"/>
          <p:nvPr/>
        </p:nvSpPr>
        <p:spPr>
          <a:xfrm>
            <a:off x="5354310" y="5030942"/>
            <a:ext cx="2800426" cy="830997"/>
          </a:xfrm>
          <a:prstGeom prst="rect">
            <a:avLst/>
          </a:prstGeom>
          <a:noFill/>
          <a:ln w="12700">
            <a:solidFill>
              <a:schemeClr val="accent1">
                <a:lumMod val="40000"/>
                <a:lumOff val="60000"/>
              </a:schemeClr>
            </a:solid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Roboto"/>
                <a:ea typeface="Roboto"/>
                <a:cs typeface="Roboto"/>
              </a:rPr>
              <a:t>June 2024 and June 2025</a:t>
            </a:r>
            <a:r>
              <a:rPr kumimoji="0" lang="en-US" sz="1200" b="0" i="0" u="none" strike="noStrike" kern="1200" cap="none" spc="0" normalizeH="0" baseline="0" noProof="0">
                <a:ln>
                  <a:noFill/>
                </a:ln>
                <a:solidFill>
                  <a:prstClr val="black"/>
                </a:solidFill>
                <a:effectLst/>
                <a:uLnTx/>
                <a:uFillTx/>
                <a:latin typeface="Roboto"/>
                <a:ea typeface="Roboto"/>
                <a:cs typeface="Roboto"/>
              </a:rPr>
              <a:t>: The third session of the OEWG held in two parts in Geneva, Switzerland, and </a:t>
            </a:r>
            <a:r>
              <a:rPr lang="en-US" sz="1200">
                <a:solidFill>
                  <a:prstClr val="black"/>
                </a:solidFill>
                <a:latin typeface="Roboto"/>
                <a:ea typeface="Roboto"/>
                <a:cs typeface="Roboto"/>
              </a:rPr>
              <a:t>in</a:t>
            </a:r>
            <a:r>
              <a:rPr kumimoji="0" lang="en-US" sz="1200" b="0" i="0" u="none" strike="noStrike" kern="1200" cap="none" spc="0" normalizeH="0" baseline="0" noProof="0">
                <a:ln>
                  <a:noFill/>
                </a:ln>
                <a:solidFill>
                  <a:prstClr val="black"/>
                </a:solidFill>
                <a:effectLst/>
                <a:uLnTx/>
                <a:uFillTx/>
                <a:latin typeface="Roboto"/>
                <a:ea typeface="Roboto"/>
                <a:cs typeface="Roboto"/>
              </a:rPr>
              <a:t> Punta del Este, Uruguay (</a:t>
            </a:r>
            <a:r>
              <a:rPr kumimoji="0" lang="en-US" sz="1200" b="1" i="0" u="none" strike="noStrike" kern="1200" cap="none" spc="0" normalizeH="0" baseline="0" noProof="0">
                <a:ln>
                  <a:noFill/>
                </a:ln>
                <a:solidFill>
                  <a:prstClr val="black"/>
                </a:solidFill>
                <a:effectLst/>
                <a:uLnTx/>
                <a:uFillTx/>
                <a:latin typeface="Roboto"/>
                <a:ea typeface="Roboto"/>
                <a:cs typeface="Roboto"/>
              </a:rPr>
              <a:t>OEWG 3.1 &amp; 3.2</a:t>
            </a:r>
            <a:r>
              <a:rPr kumimoji="0" lang="en-US" sz="1200" b="0" i="0" u="none" strike="noStrike" kern="1200" cap="none" spc="0" normalizeH="0" baseline="0" noProof="0">
                <a:ln>
                  <a:noFill/>
                </a:ln>
                <a:solidFill>
                  <a:prstClr val="black"/>
                </a:solidFill>
                <a:effectLst/>
                <a:uLnTx/>
                <a:uFillTx/>
                <a:latin typeface="Roboto"/>
                <a:ea typeface="Roboto"/>
                <a:cs typeface="Roboto"/>
              </a:rPr>
              <a:t>)</a:t>
            </a:r>
            <a:endParaRPr lang="en-GB" sz="1200" b="0" i="0" u="none" strike="noStrike" kern="1200" cap="none" spc="0" normalizeH="0" baseline="0" noProof="0">
              <a:ln>
                <a:noFill/>
              </a:ln>
              <a:solidFill>
                <a:prstClr val="black"/>
              </a:solidFill>
              <a:effectLst/>
              <a:uLnTx/>
              <a:uFillTx/>
              <a:latin typeface="Roboto"/>
              <a:ea typeface="Roboto"/>
              <a:cs typeface="Roboto"/>
            </a:endParaRPr>
          </a:p>
        </p:txBody>
      </p:sp>
      <p:cxnSp>
        <p:nvCxnSpPr>
          <p:cNvPr id="37" name="Straight Connector 36">
            <a:extLst>
              <a:ext uri="{FF2B5EF4-FFF2-40B4-BE49-F238E27FC236}">
                <a16:creationId xmlns:a16="http://schemas.microsoft.com/office/drawing/2014/main" id="{030A36D2-A217-66EC-529F-B4391E5FBD69}"/>
              </a:ext>
            </a:extLst>
          </p:cNvPr>
          <p:cNvCxnSpPr>
            <a:cxnSpLocks/>
          </p:cNvCxnSpPr>
          <p:nvPr/>
        </p:nvCxnSpPr>
        <p:spPr>
          <a:xfrm flipV="1">
            <a:off x="7476495" y="4457131"/>
            <a:ext cx="0" cy="573811"/>
          </a:xfrm>
          <a:prstGeom prst="line">
            <a:avLst/>
          </a:prstGeom>
          <a:ln w="127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B2529444-59DB-B1F2-E252-08F382414704}"/>
              </a:ext>
            </a:extLst>
          </p:cNvPr>
          <p:cNvSpPr txBox="1"/>
          <p:nvPr/>
        </p:nvSpPr>
        <p:spPr>
          <a:xfrm>
            <a:off x="6317238" y="2295929"/>
            <a:ext cx="3151039" cy="1015663"/>
          </a:xfrm>
          <a:prstGeom prst="rect">
            <a:avLst/>
          </a:prstGeom>
          <a:noFill/>
          <a:ln w="12700">
            <a:solidFill>
              <a:schemeClr val="accent1">
                <a:lumMod val="40000"/>
                <a:lumOff val="60000"/>
              </a:schemeClr>
            </a:solidFill>
          </a:ln>
        </p:spPr>
        <p:txBody>
          <a:bodyPr wrap="square" lIns="91440" tIns="45720" rIns="91440" bIns="45720" rtlCol="0" anchor="t">
            <a:spAutoFit/>
          </a:bodyPr>
          <a:lstStyle/>
          <a:p>
            <a:pPr lvl="0" algn="ctr">
              <a:defRPr/>
            </a:pPr>
            <a:r>
              <a:rPr kumimoji="0" lang="en-US" sz="1200" b="1" i="0" u="none" strike="noStrike" kern="1200" cap="none" spc="0" normalizeH="0" baseline="0" noProof="0">
                <a:ln>
                  <a:noFill/>
                </a:ln>
                <a:solidFill>
                  <a:prstClr val="black"/>
                </a:solidFill>
                <a:effectLst/>
                <a:uLnTx/>
                <a:uFillTx/>
                <a:latin typeface="Roboto"/>
                <a:ea typeface="Roboto"/>
                <a:cs typeface="Roboto"/>
              </a:rPr>
              <a:t>20 June 2025</a:t>
            </a:r>
            <a:r>
              <a:rPr lang="en-US" sz="1200" b="1">
                <a:solidFill>
                  <a:prstClr val="black"/>
                </a:solidFill>
                <a:latin typeface="Roboto"/>
                <a:ea typeface="Roboto"/>
                <a:cs typeface="Roboto"/>
              </a:rPr>
              <a:t>:</a:t>
            </a:r>
            <a:r>
              <a:rPr kumimoji="0" lang="en-US" sz="1200" b="1" i="0" u="none" strike="noStrike" kern="1200" cap="none" spc="0" normalizeH="0" baseline="0" noProof="0">
                <a:ln>
                  <a:noFill/>
                </a:ln>
                <a:solidFill>
                  <a:prstClr val="black"/>
                </a:solidFill>
                <a:effectLst/>
                <a:uLnTx/>
                <a:uFillTx/>
                <a:latin typeface="Roboto"/>
                <a:ea typeface="Roboto"/>
                <a:cs typeface="Roboto"/>
              </a:rPr>
              <a:t> </a:t>
            </a:r>
            <a:r>
              <a:rPr kumimoji="0" lang="en-US" sz="1200" b="0" i="0" u="none" strike="noStrike" kern="1200" cap="none" spc="0" normalizeH="0" baseline="0" noProof="0">
                <a:ln>
                  <a:noFill/>
                </a:ln>
                <a:solidFill>
                  <a:prstClr val="black"/>
                </a:solidFill>
                <a:effectLst/>
                <a:uLnTx/>
                <a:uFillTx/>
                <a:latin typeface="Roboto"/>
                <a:ea typeface="Roboto"/>
                <a:cs typeface="Roboto"/>
              </a:rPr>
              <a:t>Intergovernmental Science-Policy Panel on Chemicals, Waste and Pollution established </a:t>
            </a:r>
            <a:r>
              <a:rPr lang="en-US" sz="1200">
                <a:solidFill>
                  <a:prstClr val="black"/>
                </a:solidFill>
                <a:latin typeface="Roboto"/>
                <a:ea typeface="Roboto"/>
                <a:cs typeface="Roboto"/>
              </a:rPr>
              <a:t>at the </a:t>
            </a:r>
            <a:r>
              <a:rPr lang="en-US" sz="1200" b="1">
                <a:solidFill>
                  <a:prstClr val="black"/>
                </a:solidFill>
                <a:latin typeface="Roboto"/>
                <a:ea typeface="Roboto"/>
                <a:cs typeface="Roboto"/>
              </a:rPr>
              <a:t>Intergovernmental Meeting</a:t>
            </a:r>
            <a:r>
              <a:rPr lang="en-US" sz="1200">
                <a:solidFill>
                  <a:prstClr val="black"/>
                </a:solidFill>
                <a:latin typeface="Roboto"/>
                <a:ea typeface="Roboto"/>
                <a:cs typeface="Roboto"/>
              </a:rPr>
              <a:t> (IM) held in Punta del Este, Uruguay </a:t>
            </a:r>
            <a:endParaRPr lang="en-GB" sz="1200" b="0" i="0" u="none" strike="noStrike" kern="1200" cap="none" spc="0" normalizeH="0" baseline="0" noProof="0">
              <a:ln>
                <a:noFill/>
              </a:ln>
              <a:solidFill>
                <a:prstClr val="black"/>
              </a:solidFill>
              <a:effectLst/>
              <a:uLnTx/>
              <a:uFillTx/>
              <a:latin typeface="Roboto"/>
              <a:ea typeface="Roboto"/>
              <a:cs typeface="Roboto"/>
            </a:endParaRPr>
          </a:p>
        </p:txBody>
      </p:sp>
      <p:cxnSp>
        <p:nvCxnSpPr>
          <p:cNvPr id="47" name="Straight Connector 46">
            <a:extLst>
              <a:ext uri="{FF2B5EF4-FFF2-40B4-BE49-F238E27FC236}">
                <a16:creationId xmlns:a16="http://schemas.microsoft.com/office/drawing/2014/main" id="{5E28535D-8017-2CA3-3F6C-BF14C8D24390}"/>
              </a:ext>
            </a:extLst>
          </p:cNvPr>
          <p:cNvCxnSpPr>
            <a:cxnSpLocks/>
            <a:endCxn id="39" idx="2"/>
          </p:cNvCxnSpPr>
          <p:nvPr/>
        </p:nvCxnSpPr>
        <p:spPr>
          <a:xfrm flipV="1">
            <a:off x="7865634" y="3311592"/>
            <a:ext cx="27124" cy="539792"/>
          </a:xfrm>
          <a:prstGeom prst="line">
            <a:avLst/>
          </a:prstGeom>
          <a:ln w="127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60841EE-5CB9-50D6-61F8-0F1131F2588B}"/>
              </a:ext>
            </a:extLst>
          </p:cNvPr>
          <p:cNvSpPr txBox="1"/>
          <p:nvPr/>
        </p:nvSpPr>
        <p:spPr>
          <a:xfrm>
            <a:off x="9810812" y="4062891"/>
            <a:ext cx="1658323" cy="1346849"/>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1727522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6BF849-3EA8-B646-B53A-5812B2C570B3}"/>
              </a:ext>
            </a:extLst>
          </p:cNvPr>
          <p:cNvPicPr>
            <a:picLocks noChangeAspect="1"/>
          </p:cNvPicPr>
          <p:nvPr/>
        </p:nvPicPr>
        <p:blipFill rotWithShape="1">
          <a:blip r:embed="rId3"/>
          <a:srcRect r="3400"/>
          <a:stretch/>
        </p:blipFill>
        <p:spPr>
          <a:xfrm>
            <a:off x="5816599" y="1115655"/>
            <a:ext cx="5372101" cy="4626690"/>
          </a:xfrm>
          <a:prstGeom prst="rect">
            <a:avLst/>
          </a:prstGeom>
        </p:spPr>
      </p:pic>
      <p:sp>
        <p:nvSpPr>
          <p:cNvPr id="5" name="TextBox 4">
            <a:extLst>
              <a:ext uri="{FF2B5EF4-FFF2-40B4-BE49-F238E27FC236}">
                <a16:creationId xmlns:a16="http://schemas.microsoft.com/office/drawing/2014/main" id="{546901D2-C375-2BB7-3D9D-4A9BF4B011E6}"/>
              </a:ext>
            </a:extLst>
          </p:cNvPr>
          <p:cNvSpPr txBox="1"/>
          <p:nvPr/>
        </p:nvSpPr>
        <p:spPr>
          <a:xfrm>
            <a:off x="1003299" y="1969749"/>
            <a:ext cx="4089401" cy="2677656"/>
          </a:xfrm>
          <a:prstGeom prst="rect">
            <a:avLst/>
          </a:prstGeom>
          <a:noFill/>
        </p:spPr>
        <p:txBody>
          <a:bodyPr wrap="square" lIns="91440" tIns="45720" rIns="91440" bIns="45720" anchor="t">
            <a:spAutoFit/>
          </a:bodyPr>
          <a:lstStyle/>
          <a:p>
            <a:pPr marL="0" lvl="1">
              <a:defRPr/>
            </a:pPr>
            <a:r>
              <a:rPr lang="en-US" sz="2400" b="1">
                <a:solidFill>
                  <a:srgbClr val="00AEEF"/>
                </a:solidFill>
                <a:latin typeface="Roboto"/>
                <a:ea typeface="Roboto"/>
                <a:cs typeface="Roboto"/>
              </a:rPr>
              <a:t>The Intergovernmental Science-Policy Panel on </a:t>
            </a:r>
            <a:br>
              <a:rPr lang="en-US" sz="2400" b="1">
                <a:solidFill>
                  <a:srgbClr val="00AEEF"/>
                </a:solidFill>
                <a:latin typeface="Roboto"/>
                <a:ea typeface="Roboto"/>
                <a:cs typeface="Roboto"/>
              </a:rPr>
            </a:br>
            <a:r>
              <a:rPr lang="en-US" sz="2400" b="1">
                <a:solidFill>
                  <a:srgbClr val="00AEEF"/>
                </a:solidFill>
                <a:latin typeface="Roboto"/>
                <a:ea typeface="Roboto"/>
                <a:cs typeface="Roboto"/>
              </a:rPr>
              <a:t>Chemicals, Waste and Pollution </a:t>
            </a:r>
            <a:br>
              <a:rPr lang="en-US" sz="2400" b="1">
                <a:solidFill>
                  <a:srgbClr val="00AEEF"/>
                </a:solidFill>
                <a:latin typeface="Roboto"/>
                <a:ea typeface="Roboto"/>
                <a:cs typeface="Roboto"/>
              </a:rPr>
            </a:br>
            <a:r>
              <a:rPr lang="en-US" sz="2400" b="1">
                <a:solidFill>
                  <a:srgbClr val="00AEEF"/>
                </a:solidFill>
                <a:latin typeface="Roboto"/>
                <a:ea typeface="Roboto"/>
                <a:cs typeface="Roboto"/>
              </a:rPr>
              <a:t>established in </a:t>
            </a:r>
            <a:br>
              <a:rPr lang="en-US" sz="2400" b="1">
                <a:solidFill>
                  <a:srgbClr val="00AEEF"/>
                </a:solidFill>
                <a:latin typeface="Roboto"/>
                <a:ea typeface="Roboto"/>
                <a:cs typeface="Roboto"/>
              </a:rPr>
            </a:br>
            <a:r>
              <a:rPr lang="en-US" sz="2400" b="1">
                <a:solidFill>
                  <a:srgbClr val="00AEEF"/>
                </a:solidFill>
                <a:latin typeface="Roboto"/>
                <a:ea typeface="Roboto"/>
                <a:cs typeface="Roboto"/>
              </a:rPr>
              <a:t>Punta del Este, Urugay, </a:t>
            </a:r>
            <a:br>
              <a:rPr lang="en-US" sz="2400" b="1">
                <a:solidFill>
                  <a:srgbClr val="00AEEF"/>
                </a:solidFill>
                <a:latin typeface="Roboto"/>
                <a:ea typeface="Roboto"/>
                <a:cs typeface="Roboto"/>
              </a:rPr>
            </a:br>
            <a:r>
              <a:rPr lang="en-US" sz="2400" b="1">
                <a:solidFill>
                  <a:srgbClr val="00AEEF"/>
                </a:solidFill>
                <a:latin typeface="Roboto"/>
                <a:ea typeface="Roboto"/>
                <a:cs typeface="Roboto"/>
              </a:rPr>
              <a:t>on 20 June 2025</a:t>
            </a:r>
            <a:endParaRPr lang="en-US"/>
          </a:p>
        </p:txBody>
      </p:sp>
      <p:pic>
        <p:nvPicPr>
          <p:cNvPr id="4" name="Picture 3" descr="Intergovernmental Meeting Co-Chair Laura Dupuy (Uruguay), UNEP Executive Director Inger Andersen, and Intergovernmental Meeting Co-Chair Yutaka Matsuzawa (Japan)">
            <a:extLst>
              <a:ext uri="{FF2B5EF4-FFF2-40B4-BE49-F238E27FC236}">
                <a16:creationId xmlns:a16="http://schemas.microsoft.com/office/drawing/2014/main" id="{08846419-3340-A21E-9D02-273C13695455}"/>
              </a:ext>
            </a:extLst>
          </p:cNvPr>
          <p:cNvPicPr>
            <a:picLocks noChangeAspect="1"/>
          </p:cNvPicPr>
          <p:nvPr/>
        </p:nvPicPr>
        <p:blipFill>
          <a:blip r:embed="rId4"/>
          <a:srcRect l="9537" t="-54" r="10082" b="196"/>
          <a:stretch>
            <a:fillRect/>
          </a:stretch>
        </p:blipFill>
        <p:spPr>
          <a:xfrm>
            <a:off x="5620382" y="822041"/>
            <a:ext cx="5764534" cy="4973071"/>
          </a:xfrm>
          <a:prstGeom prst="rect">
            <a:avLst/>
          </a:prstGeom>
        </p:spPr>
      </p:pic>
      <p:sp>
        <p:nvSpPr>
          <p:cNvPr id="2" name="TextBox 1">
            <a:extLst>
              <a:ext uri="{FF2B5EF4-FFF2-40B4-BE49-F238E27FC236}">
                <a16:creationId xmlns:a16="http://schemas.microsoft.com/office/drawing/2014/main" id="{14FD663B-ADB5-05DC-3937-E6B437ADCF2B}"/>
              </a:ext>
            </a:extLst>
          </p:cNvPr>
          <p:cNvSpPr txBox="1"/>
          <p:nvPr/>
        </p:nvSpPr>
        <p:spPr>
          <a:xfrm>
            <a:off x="5467348" y="5795112"/>
            <a:ext cx="6280151" cy="1015663"/>
          </a:xfrm>
          <a:prstGeom prst="rect">
            <a:avLst/>
          </a:prstGeom>
          <a:noFill/>
        </p:spPr>
        <p:txBody>
          <a:bodyPr wrap="square" rtlCol="0">
            <a:spAutoFit/>
          </a:bodyPr>
          <a:lstStyle/>
          <a:p>
            <a:pPr marL="73660" lvl="1">
              <a:defRPr/>
            </a:pPr>
            <a:r>
              <a:rPr lang="en-US" sz="1400" dirty="0">
                <a:latin typeface="Roboto" panose="02000000000000000000" pitchFamily="2" charset="0"/>
                <a:ea typeface="Roboto" panose="02000000000000000000" pitchFamily="2" charset="0"/>
                <a:cs typeface="Roboto" panose="02000000000000000000" pitchFamily="2" charset="0"/>
              </a:rPr>
              <a:t>Intergovernmental meeting Co-Chair Laura Dupuy (Uruguay), UNEP Executive Director Inger Andersen, and intergovernmental meeting Co-Chair Yutaka Matsuzawa (Japan) </a:t>
            </a:r>
            <a:r>
              <a:rPr lang="en-US" sz="1400" i="1" dirty="0">
                <a:latin typeface="Roboto" panose="02000000000000000000" pitchFamily="2" charset="0"/>
                <a:ea typeface="Roboto" panose="02000000000000000000" pitchFamily="2" charset="0"/>
                <a:cs typeface="Roboto" panose="02000000000000000000" pitchFamily="2" charset="0"/>
              </a:rPr>
              <a:t>Photo by IISD/ENB - Angeles Estrada Vigil</a:t>
            </a:r>
          </a:p>
          <a:p>
            <a:endParaRPr lang="en-US" dirty="0"/>
          </a:p>
        </p:txBody>
      </p:sp>
    </p:spTree>
    <p:extLst>
      <p:ext uri="{BB962C8B-B14F-4D97-AF65-F5344CB8AC3E}">
        <p14:creationId xmlns:p14="http://schemas.microsoft.com/office/powerpoint/2010/main" val="3566011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274DB-539D-62D7-9516-7D3D7533B793}"/>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92202BA2-41DF-2A57-BE4B-CC03CEF5CCC0}"/>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ED3E5D25-3B1C-B9BD-2FD0-7E6818AC31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68BEF37E-7A69-76D7-436C-8EFA84458BC9}"/>
              </a:ext>
            </a:extLst>
          </p:cNvPr>
          <p:cNvSpPr txBox="1"/>
          <p:nvPr/>
        </p:nvSpPr>
        <p:spPr>
          <a:xfrm>
            <a:off x="1003299" y="486196"/>
            <a:ext cx="5780943" cy="584775"/>
          </a:xfrm>
          <a:prstGeom prst="rect">
            <a:avLst/>
          </a:prstGeom>
          <a:noFill/>
        </p:spPr>
        <p:txBody>
          <a:bodyPr wrap="square" lIns="91440" tIns="45720" rIns="91440" bIns="45720" anchor="t">
            <a:spAutoFit/>
          </a:bodyPr>
          <a:lstStyle/>
          <a:p>
            <a:pPr marL="0" lvl="1"/>
            <a:r>
              <a:rPr lang="en-US" sz="3200" b="1">
                <a:solidFill>
                  <a:srgbClr val="00AEEF"/>
                </a:solidFill>
                <a:latin typeface="Roboto"/>
                <a:ea typeface="Roboto"/>
                <a:cs typeface="Roboto"/>
              </a:rPr>
              <a:t>Foundational document  </a:t>
            </a:r>
            <a:endParaRPr lang="en-US"/>
          </a:p>
        </p:txBody>
      </p:sp>
      <p:sp>
        <p:nvSpPr>
          <p:cNvPr id="8" name="TextBox 7">
            <a:extLst>
              <a:ext uri="{FF2B5EF4-FFF2-40B4-BE49-F238E27FC236}">
                <a16:creationId xmlns:a16="http://schemas.microsoft.com/office/drawing/2014/main" id="{293455C7-5B41-3BF0-3E7C-EDCC815D1BB3}"/>
              </a:ext>
            </a:extLst>
          </p:cNvPr>
          <p:cNvSpPr txBox="1"/>
          <p:nvPr/>
        </p:nvSpPr>
        <p:spPr>
          <a:xfrm>
            <a:off x="1003299" y="2196561"/>
            <a:ext cx="7941712" cy="1015663"/>
          </a:xfrm>
          <a:prstGeom prst="rect">
            <a:avLst/>
          </a:prstGeom>
          <a:noFill/>
        </p:spPr>
        <p:txBody>
          <a:bodyPr wrap="square" lIns="91440" tIns="45720" rIns="91440" bIns="45720" anchor="t">
            <a:spAutoFit/>
          </a:bodyPr>
          <a:lstStyle/>
          <a:p>
            <a:pPr marL="0" lvl="1">
              <a:defRPr/>
            </a:pPr>
            <a:r>
              <a:rPr lang="en-US" sz="2000" b="1" dirty="0">
                <a:solidFill>
                  <a:srgbClr val="00AEEF"/>
                </a:solidFill>
                <a:latin typeface="Roboto"/>
                <a:ea typeface="Roboto"/>
                <a:cs typeface="Roboto"/>
              </a:rPr>
              <a:t>The Intergovernmental Meeting decides to establish the Panel, as specified in the foundational document set out in the annex to the decision (Decision IM/1)</a:t>
            </a:r>
            <a:endParaRPr lang="en-US" sz="2400" dirty="0">
              <a:ea typeface="Calibri" panose="020F0502020204030204"/>
              <a:cs typeface="Calibri" panose="020F0502020204030204"/>
            </a:endParaRPr>
          </a:p>
        </p:txBody>
      </p:sp>
      <p:sp>
        <p:nvSpPr>
          <p:cNvPr id="9" name="TextBox 8">
            <a:extLst>
              <a:ext uri="{FF2B5EF4-FFF2-40B4-BE49-F238E27FC236}">
                <a16:creationId xmlns:a16="http://schemas.microsoft.com/office/drawing/2014/main" id="{F68E326F-C1D9-64C8-B23B-427D36038C68}"/>
              </a:ext>
            </a:extLst>
          </p:cNvPr>
          <p:cNvSpPr txBox="1"/>
          <p:nvPr/>
        </p:nvSpPr>
        <p:spPr>
          <a:xfrm>
            <a:off x="910706" y="3335931"/>
            <a:ext cx="7495123" cy="2349361"/>
          </a:xfrm>
          <a:prstGeom prst="rect">
            <a:avLst/>
          </a:prstGeom>
          <a:noFill/>
        </p:spPr>
        <p:txBody>
          <a:bodyPr wrap="square" lIns="91440" tIns="45720" rIns="91440" bIns="45720" numCol="1" anchor="t">
            <a:spAutoFit/>
          </a:bodyPr>
          <a:lstStyle/>
          <a:p>
            <a:pPr marL="73660">
              <a:lnSpc>
                <a:spcPct val="150000"/>
              </a:lnSpc>
              <a:defRPr/>
            </a:pPr>
            <a:r>
              <a:rPr lang="en-US" sz="2000" dirty="0">
                <a:latin typeface="Roboto"/>
                <a:ea typeface="Roboto"/>
                <a:cs typeface="Roboto"/>
              </a:rPr>
              <a:t>Key elements:</a:t>
            </a:r>
            <a:endParaRPr lang="en-GB" sz="2000" dirty="0">
              <a:latin typeface="Roboto"/>
              <a:ea typeface="Roboto"/>
              <a:cs typeface="Roboto"/>
            </a:endParaRPr>
          </a:p>
          <a:p>
            <a:pPr marL="359410" indent="-285750">
              <a:lnSpc>
                <a:spcPct val="150000"/>
              </a:lnSpc>
              <a:buFont typeface="Arial" panose="020B0604020202020204" pitchFamily="34" charset="0"/>
              <a:buChar char="•"/>
              <a:defRPr/>
            </a:pPr>
            <a:r>
              <a:rPr lang="en-GB" sz="2000" dirty="0">
                <a:latin typeface="Roboto"/>
                <a:ea typeface="Roboto"/>
                <a:cs typeface="Roboto"/>
              </a:rPr>
              <a:t>Scope, objective and functions</a:t>
            </a:r>
          </a:p>
          <a:p>
            <a:pPr marL="359410" indent="-285750">
              <a:lnSpc>
                <a:spcPct val="150000"/>
              </a:lnSpc>
              <a:buFont typeface="Arial" panose="020B0604020202020204" pitchFamily="34" charset="0"/>
              <a:buChar char="•"/>
              <a:defRPr/>
            </a:pPr>
            <a:r>
              <a:rPr lang="en-GB" sz="2000" dirty="0">
                <a:latin typeface="Roboto"/>
                <a:ea typeface="Roboto"/>
                <a:cs typeface="Roboto"/>
              </a:rPr>
              <a:t>Operating principles and approaches</a:t>
            </a:r>
          </a:p>
          <a:p>
            <a:pPr marL="359410" indent="-285750">
              <a:lnSpc>
                <a:spcPct val="150000"/>
              </a:lnSpc>
              <a:buFont typeface="Arial" panose="020B0604020202020204" pitchFamily="34" charset="0"/>
              <a:buChar char="•"/>
              <a:defRPr/>
            </a:pPr>
            <a:r>
              <a:rPr lang="en-GB" sz="2000" dirty="0">
                <a:latin typeface="Roboto"/>
                <a:ea typeface="Roboto"/>
                <a:cs typeface="Roboto"/>
              </a:rPr>
              <a:t>Institutional arrangements</a:t>
            </a:r>
          </a:p>
          <a:p>
            <a:pPr marL="359410" indent="-285750">
              <a:lnSpc>
                <a:spcPct val="150000"/>
              </a:lnSpc>
              <a:buFont typeface="Arial" panose="020B0604020202020204" pitchFamily="34" charset="0"/>
              <a:buChar char="•"/>
              <a:defRPr/>
            </a:pPr>
            <a:r>
              <a:rPr lang="en-US" sz="2000" dirty="0">
                <a:latin typeface="Roboto"/>
                <a:ea typeface="Roboto"/>
                <a:cs typeface="Roboto"/>
              </a:rPr>
              <a:t>Evaluation of the Panel’s effectiveness</a:t>
            </a:r>
          </a:p>
        </p:txBody>
      </p:sp>
      <p:cxnSp>
        <p:nvCxnSpPr>
          <p:cNvPr id="10" name="Straight Connector 9">
            <a:extLst>
              <a:ext uri="{FF2B5EF4-FFF2-40B4-BE49-F238E27FC236}">
                <a16:creationId xmlns:a16="http://schemas.microsoft.com/office/drawing/2014/main" id="{81DCA1FF-5341-45AA-4250-671C5A711E56}"/>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7D2267-2E26-280C-4605-6AAA4DF85D1E}"/>
              </a:ext>
            </a:extLst>
          </p:cNvPr>
          <p:cNvSpPr txBox="1"/>
          <p:nvPr/>
        </p:nvSpPr>
        <p:spPr>
          <a:xfrm>
            <a:off x="9810812" y="4062891"/>
            <a:ext cx="1658323" cy="1346849"/>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2174967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6901D2-C375-2BB7-3D9D-4A9BF4B011E6}"/>
              </a:ext>
            </a:extLst>
          </p:cNvPr>
          <p:cNvSpPr txBox="1"/>
          <p:nvPr/>
        </p:nvSpPr>
        <p:spPr>
          <a:xfrm>
            <a:off x="1003299" y="1969749"/>
            <a:ext cx="4089401" cy="2677656"/>
          </a:xfrm>
          <a:prstGeom prst="rect">
            <a:avLst/>
          </a:prstGeom>
          <a:noFill/>
        </p:spPr>
        <p:txBody>
          <a:bodyPr wrap="square" lIns="91440" tIns="45720" rIns="91440" bIns="45720" anchor="t">
            <a:spAutoFit/>
          </a:bodyPr>
          <a:lstStyle/>
          <a:p>
            <a:pPr marL="0" lvl="1">
              <a:defRPr/>
            </a:pPr>
            <a:r>
              <a:rPr lang="en-US" sz="2400" b="1" dirty="0">
                <a:solidFill>
                  <a:srgbClr val="00AEEF"/>
                </a:solidFill>
                <a:latin typeface="Roboto"/>
                <a:ea typeface="Roboto"/>
                <a:cs typeface="Roboto"/>
              </a:rPr>
              <a:t>The objective of the Panel is to strengthen the science-policy interface to contribute to the sound management of chemicals and waste and pollution prevention</a:t>
            </a:r>
            <a:endParaRPr lang="en-US" dirty="0"/>
          </a:p>
        </p:txBody>
      </p:sp>
      <p:grpSp>
        <p:nvGrpSpPr>
          <p:cNvPr id="3" name="Group 2">
            <a:extLst>
              <a:ext uri="{FF2B5EF4-FFF2-40B4-BE49-F238E27FC236}">
                <a16:creationId xmlns:a16="http://schemas.microsoft.com/office/drawing/2014/main" id="{927937C2-77AF-9245-793E-00830A2B20C8}"/>
              </a:ext>
            </a:extLst>
          </p:cNvPr>
          <p:cNvGrpSpPr/>
          <p:nvPr/>
        </p:nvGrpSpPr>
        <p:grpSpPr>
          <a:xfrm>
            <a:off x="5744918" y="1198601"/>
            <a:ext cx="5497505" cy="4751498"/>
            <a:chOff x="5744918" y="1198601"/>
            <a:chExt cx="5497505" cy="4751498"/>
          </a:xfrm>
        </p:grpSpPr>
        <p:sp>
          <p:nvSpPr>
            <p:cNvPr id="6" name="Freeform 5">
              <a:extLst>
                <a:ext uri="{FF2B5EF4-FFF2-40B4-BE49-F238E27FC236}">
                  <a16:creationId xmlns:a16="http://schemas.microsoft.com/office/drawing/2014/main" id="{C3A60C32-FBB3-37A1-55C9-9F8F67912B14}"/>
                </a:ext>
              </a:extLst>
            </p:cNvPr>
            <p:cNvSpPr/>
            <p:nvPr/>
          </p:nvSpPr>
          <p:spPr>
            <a:xfrm>
              <a:off x="7701561" y="1198601"/>
              <a:ext cx="1584219" cy="1029742"/>
            </a:xfrm>
            <a:custGeom>
              <a:avLst/>
              <a:gdLst>
                <a:gd name="csX0" fmla="*/ 0 w 1584219"/>
                <a:gd name="csY0" fmla="*/ 171627 h 1029742"/>
                <a:gd name="csX1" fmla="*/ 171627 w 1584219"/>
                <a:gd name="csY1" fmla="*/ 0 h 1029742"/>
                <a:gd name="csX2" fmla="*/ 1412592 w 1584219"/>
                <a:gd name="csY2" fmla="*/ 0 h 1029742"/>
                <a:gd name="csX3" fmla="*/ 1584219 w 1584219"/>
                <a:gd name="csY3" fmla="*/ 171627 h 1029742"/>
                <a:gd name="csX4" fmla="*/ 1584219 w 1584219"/>
                <a:gd name="csY4" fmla="*/ 858115 h 1029742"/>
                <a:gd name="csX5" fmla="*/ 1412592 w 1584219"/>
                <a:gd name="csY5" fmla="*/ 1029742 h 1029742"/>
                <a:gd name="csX6" fmla="*/ 171627 w 1584219"/>
                <a:gd name="csY6" fmla="*/ 1029742 h 1029742"/>
                <a:gd name="csX7" fmla="*/ 0 w 1584219"/>
                <a:gd name="csY7" fmla="*/ 858115 h 1029742"/>
                <a:gd name="csX8" fmla="*/ 0 w 1584219"/>
                <a:gd name="csY8" fmla="*/ 171627 h 10297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84219" h="1029742">
                  <a:moveTo>
                    <a:pt x="0" y="171627"/>
                  </a:moveTo>
                  <a:cubicBezTo>
                    <a:pt x="0" y="76840"/>
                    <a:pt x="76840" y="0"/>
                    <a:pt x="171627" y="0"/>
                  </a:cubicBezTo>
                  <a:lnTo>
                    <a:pt x="1412592" y="0"/>
                  </a:lnTo>
                  <a:cubicBezTo>
                    <a:pt x="1507379" y="0"/>
                    <a:pt x="1584219" y="76840"/>
                    <a:pt x="1584219" y="171627"/>
                  </a:cubicBezTo>
                  <a:lnTo>
                    <a:pt x="1584219" y="858115"/>
                  </a:lnTo>
                  <a:cubicBezTo>
                    <a:pt x="1584219" y="952902"/>
                    <a:pt x="1507379" y="1029742"/>
                    <a:pt x="1412592" y="1029742"/>
                  </a:cubicBezTo>
                  <a:lnTo>
                    <a:pt x="171627" y="1029742"/>
                  </a:lnTo>
                  <a:cubicBezTo>
                    <a:pt x="76840" y="1029742"/>
                    <a:pt x="0" y="952902"/>
                    <a:pt x="0" y="858115"/>
                  </a:cubicBezTo>
                  <a:lnTo>
                    <a:pt x="0" y="17162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1228" tIns="111228" rIns="111228" bIns="111228" numCol="1" spcCol="1270" anchor="ctr" anchorCtr="0">
              <a:noAutofit/>
            </a:bodyPr>
            <a:lstStyle/>
            <a:p>
              <a:pPr marL="0" lvl="0" indent="0" algn="ctr" defTabSz="711200">
                <a:lnSpc>
                  <a:spcPct val="90000"/>
                </a:lnSpc>
                <a:spcBef>
                  <a:spcPct val="0"/>
                </a:spcBef>
                <a:spcAft>
                  <a:spcPct val="35000"/>
                </a:spcAft>
                <a:buNone/>
              </a:pPr>
              <a:r>
                <a:rPr lang="en-US" sz="1600" b="1" kern="1200">
                  <a:latin typeface="Roboto" panose="02000000000000000000" pitchFamily="2" charset="0"/>
                  <a:ea typeface="Roboto" panose="02000000000000000000" pitchFamily="2" charset="0"/>
                  <a:cs typeface="Roboto" panose="02000000000000000000" pitchFamily="2" charset="0"/>
                </a:rPr>
                <a:t>(b) </a:t>
              </a:r>
              <a:br>
                <a:rPr lang="en-US" sz="1600" b="1" kern="1200">
                  <a:latin typeface="Roboto" panose="02000000000000000000" pitchFamily="2" charset="0"/>
                  <a:ea typeface="Roboto" panose="02000000000000000000" pitchFamily="2" charset="0"/>
                  <a:cs typeface="Roboto" panose="02000000000000000000" pitchFamily="2" charset="0"/>
                </a:rPr>
              </a:br>
              <a:r>
                <a:rPr lang="en-US" sz="1600" b="1" kern="1200">
                  <a:latin typeface="Roboto" panose="02000000000000000000" pitchFamily="2" charset="0"/>
                  <a:ea typeface="Roboto" panose="02000000000000000000" pitchFamily="2" charset="0"/>
                  <a:cs typeface="Roboto" panose="02000000000000000000" pitchFamily="2" charset="0"/>
                </a:rPr>
                <a:t>Conducting assessments</a:t>
              </a:r>
            </a:p>
          </p:txBody>
        </p:sp>
        <p:sp>
          <p:nvSpPr>
            <p:cNvPr id="7" name="Freeform 6">
              <a:extLst>
                <a:ext uri="{FF2B5EF4-FFF2-40B4-BE49-F238E27FC236}">
                  <a16:creationId xmlns:a16="http://schemas.microsoft.com/office/drawing/2014/main" id="{17974649-7F0D-F902-C2F8-0EDCF0D64CCA}"/>
                </a:ext>
              </a:extLst>
            </p:cNvPr>
            <p:cNvSpPr/>
            <p:nvPr/>
          </p:nvSpPr>
          <p:spPr>
            <a:xfrm>
              <a:off x="6436334" y="1713472"/>
              <a:ext cx="4114672" cy="4114672"/>
            </a:xfrm>
            <a:custGeom>
              <a:avLst/>
              <a:gdLst/>
              <a:ahLst/>
              <a:cxnLst/>
              <a:rect l="0" t="0" r="0" b="0"/>
              <a:pathLst>
                <a:path>
                  <a:moveTo>
                    <a:pt x="2857563" y="162007"/>
                  </a:moveTo>
                  <a:arcTo wR="2057336" hR="2057336" stAng="17573398" swAng="1453029"/>
                </a:path>
              </a:pathLst>
            </a:custGeom>
            <a:noFill/>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Freeform 7">
              <a:extLst>
                <a:ext uri="{FF2B5EF4-FFF2-40B4-BE49-F238E27FC236}">
                  <a16:creationId xmlns:a16="http://schemas.microsoft.com/office/drawing/2014/main" id="{06F3B31D-0D42-B1B0-0052-52392CD60AE6}"/>
                </a:ext>
              </a:extLst>
            </p:cNvPr>
            <p:cNvSpPr/>
            <p:nvPr/>
          </p:nvSpPr>
          <p:spPr>
            <a:xfrm>
              <a:off x="9658204" y="2376986"/>
              <a:ext cx="1584219" cy="1516141"/>
            </a:xfrm>
            <a:custGeom>
              <a:avLst/>
              <a:gdLst>
                <a:gd name="csX0" fmla="*/ 0 w 1584219"/>
                <a:gd name="csY0" fmla="*/ 252695 h 1516141"/>
                <a:gd name="csX1" fmla="*/ 252695 w 1584219"/>
                <a:gd name="csY1" fmla="*/ 0 h 1516141"/>
                <a:gd name="csX2" fmla="*/ 1331524 w 1584219"/>
                <a:gd name="csY2" fmla="*/ 0 h 1516141"/>
                <a:gd name="csX3" fmla="*/ 1584219 w 1584219"/>
                <a:gd name="csY3" fmla="*/ 252695 h 1516141"/>
                <a:gd name="csX4" fmla="*/ 1584219 w 1584219"/>
                <a:gd name="csY4" fmla="*/ 1263446 h 1516141"/>
                <a:gd name="csX5" fmla="*/ 1331524 w 1584219"/>
                <a:gd name="csY5" fmla="*/ 1516141 h 1516141"/>
                <a:gd name="csX6" fmla="*/ 252695 w 1584219"/>
                <a:gd name="csY6" fmla="*/ 1516141 h 1516141"/>
                <a:gd name="csX7" fmla="*/ 0 w 1584219"/>
                <a:gd name="csY7" fmla="*/ 1263446 h 1516141"/>
                <a:gd name="csX8" fmla="*/ 0 w 1584219"/>
                <a:gd name="csY8" fmla="*/ 252695 h 15161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84219" h="1516141">
                  <a:moveTo>
                    <a:pt x="0" y="252695"/>
                  </a:moveTo>
                  <a:cubicBezTo>
                    <a:pt x="0" y="113135"/>
                    <a:pt x="113135" y="0"/>
                    <a:pt x="252695" y="0"/>
                  </a:cubicBezTo>
                  <a:lnTo>
                    <a:pt x="1331524" y="0"/>
                  </a:lnTo>
                  <a:cubicBezTo>
                    <a:pt x="1471084" y="0"/>
                    <a:pt x="1584219" y="113135"/>
                    <a:pt x="1584219" y="252695"/>
                  </a:cubicBezTo>
                  <a:lnTo>
                    <a:pt x="1584219" y="1263446"/>
                  </a:lnTo>
                  <a:cubicBezTo>
                    <a:pt x="1584219" y="1403006"/>
                    <a:pt x="1471084" y="1516141"/>
                    <a:pt x="1331524" y="1516141"/>
                  </a:cubicBezTo>
                  <a:lnTo>
                    <a:pt x="252695" y="1516141"/>
                  </a:lnTo>
                  <a:cubicBezTo>
                    <a:pt x="113135" y="1516141"/>
                    <a:pt x="0" y="1403006"/>
                    <a:pt x="0" y="1263446"/>
                  </a:cubicBezTo>
                  <a:lnTo>
                    <a:pt x="0" y="25269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4972" tIns="134972" rIns="134972" bIns="134972" numCol="1" spcCol="1270" anchor="ctr" anchorCtr="0">
              <a:noAutofit/>
            </a:bodyPr>
            <a:lstStyle/>
            <a:p>
              <a:pPr marL="0" lvl="0" indent="0" algn="ctr" defTabSz="711200">
                <a:lnSpc>
                  <a:spcPct val="90000"/>
                </a:lnSpc>
                <a:spcBef>
                  <a:spcPct val="0"/>
                </a:spcBef>
                <a:spcAft>
                  <a:spcPct val="35000"/>
                </a:spcAft>
                <a:buNone/>
              </a:pPr>
              <a:r>
                <a:rPr lang="en-US" sz="1600" b="1" kern="1200">
                  <a:latin typeface="Roboto" panose="02000000000000000000" pitchFamily="2" charset="0"/>
                  <a:ea typeface="Roboto" panose="02000000000000000000" pitchFamily="2" charset="0"/>
                  <a:cs typeface="Roboto" panose="02000000000000000000" pitchFamily="2" charset="0"/>
                </a:rPr>
                <a:t>(c) </a:t>
              </a:r>
              <a:br>
                <a:rPr lang="en-US" sz="1600" b="1" kern="1200">
                  <a:latin typeface="Roboto" panose="02000000000000000000" pitchFamily="2" charset="0"/>
                  <a:ea typeface="Roboto" panose="02000000000000000000" pitchFamily="2" charset="0"/>
                  <a:cs typeface="Roboto" panose="02000000000000000000" pitchFamily="2" charset="0"/>
                </a:rPr>
              </a:br>
              <a:r>
                <a:rPr lang="en-US" sz="1600" b="1" kern="1200">
                  <a:latin typeface="Roboto" panose="02000000000000000000" pitchFamily="2" charset="0"/>
                  <a:ea typeface="Roboto" panose="02000000000000000000" pitchFamily="2" charset="0"/>
                  <a:cs typeface="Roboto" panose="02000000000000000000" pitchFamily="2" charset="0"/>
                </a:rPr>
                <a:t>Providing up-to-date and relevant information </a:t>
              </a:r>
            </a:p>
          </p:txBody>
        </p:sp>
        <p:sp>
          <p:nvSpPr>
            <p:cNvPr id="9" name="Freeform 8">
              <a:extLst>
                <a:ext uri="{FF2B5EF4-FFF2-40B4-BE49-F238E27FC236}">
                  <a16:creationId xmlns:a16="http://schemas.microsoft.com/office/drawing/2014/main" id="{434A38A9-685B-B607-1CAA-DF98CD3D0F73}"/>
                </a:ext>
              </a:extLst>
            </p:cNvPr>
            <p:cNvSpPr/>
            <p:nvPr/>
          </p:nvSpPr>
          <p:spPr>
            <a:xfrm>
              <a:off x="6436334" y="1713472"/>
              <a:ext cx="4114672" cy="4114672"/>
            </a:xfrm>
            <a:custGeom>
              <a:avLst/>
              <a:gdLst/>
              <a:ahLst/>
              <a:cxnLst/>
              <a:rect l="0" t="0" r="0" b="0"/>
              <a:pathLst>
                <a:path>
                  <a:moveTo>
                    <a:pt x="4110360" y="2190478"/>
                  </a:moveTo>
                  <a:arcTo wR="2057336" hR="2057336" stAng="222632" swAng="1797437"/>
                </a:path>
              </a:pathLst>
            </a:custGeom>
            <a:noFill/>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0" name="Freeform 9">
              <a:extLst>
                <a:ext uri="{FF2B5EF4-FFF2-40B4-BE49-F238E27FC236}">
                  <a16:creationId xmlns:a16="http://schemas.microsoft.com/office/drawing/2014/main" id="{4ABFAA7F-7D53-DC6A-52EF-C8D4CB810888}"/>
                </a:ext>
              </a:extLst>
            </p:cNvPr>
            <p:cNvSpPr/>
            <p:nvPr/>
          </p:nvSpPr>
          <p:spPr>
            <a:xfrm>
              <a:off x="8910833" y="4920357"/>
              <a:ext cx="1584219" cy="1029742"/>
            </a:xfrm>
            <a:custGeom>
              <a:avLst/>
              <a:gdLst>
                <a:gd name="csX0" fmla="*/ 0 w 1584219"/>
                <a:gd name="csY0" fmla="*/ 171627 h 1029742"/>
                <a:gd name="csX1" fmla="*/ 171627 w 1584219"/>
                <a:gd name="csY1" fmla="*/ 0 h 1029742"/>
                <a:gd name="csX2" fmla="*/ 1412592 w 1584219"/>
                <a:gd name="csY2" fmla="*/ 0 h 1029742"/>
                <a:gd name="csX3" fmla="*/ 1584219 w 1584219"/>
                <a:gd name="csY3" fmla="*/ 171627 h 1029742"/>
                <a:gd name="csX4" fmla="*/ 1584219 w 1584219"/>
                <a:gd name="csY4" fmla="*/ 858115 h 1029742"/>
                <a:gd name="csX5" fmla="*/ 1412592 w 1584219"/>
                <a:gd name="csY5" fmla="*/ 1029742 h 1029742"/>
                <a:gd name="csX6" fmla="*/ 171627 w 1584219"/>
                <a:gd name="csY6" fmla="*/ 1029742 h 1029742"/>
                <a:gd name="csX7" fmla="*/ 0 w 1584219"/>
                <a:gd name="csY7" fmla="*/ 858115 h 1029742"/>
                <a:gd name="csX8" fmla="*/ 0 w 1584219"/>
                <a:gd name="csY8" fmla="*/ 171627 h 10297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84219" h="1029742">
                  <a:moveTo>
                    <a:pt x="0" y="171627"/>
                  </a:moveTo>
                  <a:cubicBezTo>
                    <a:pt x="0" y="76840"/>
                    <a:pt x="76840" y="0"/>
                    <a:pt x="171627" y="0"/>
                  </a:cubicBezTo>
                  <a:lnTo>
                    <a:pt x="1412592" y="0"/>
                  </a:lnTo>
                  <a:cubicBezTo>
                    <a:pt x="1507379" y="0"/>
                    <a:pt x="1584219" y="76840"/>
                    <a:pt x="1584219" y="171627"/>
                  </a:cubicBezTo>
                  <a:lnTo>
                    <a:pt x="1584219" y="858115"/>
                  </a:lnTo>
                  <a:cubicBezTo>
                    <a:pt x="1584219" y="952902"/>
                    <a:pt x="1507379" y="1029742"/>
                    <a:pt x="1412592" y="1029742"/>
                  </a:cubicBezTo>
                  <a:lnTo>
                    <a:pt x="171627" y="1029742"/>
                  </a:lnTo>
                  <a:cubicBezTo>
                    <a:pt x="76840" y="1029742"/>
                    <a:pt x="0" y="952902"/>
                    <a:pt x="0" y="858115"/>
                  </a:cubicBezTo>
                  <a:lnTo>
                    <a:pt x="0" y="17162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1228" tIns="111228" rIns="111228" bIns="111228" numCol="1" spcCol="1270" anchor="ctr" anchorCtr="0">
              <a:noAutofit/>
            </a:bodyPr>
            <a:lstStyle/>
            <a:p>
              <a:pPr marL="0" lvl="0" indent="0" algn="ctr" defTabSz="711200">
                <a:lnSpc>
                  <a:spcPct val="90000"/>
                </a:lnSpc>
                <a:spcBef>
                  <a:spcPct val="0"/>
                </a:spcBef>
                <a:spcAft>
                  <a:spcPct val="35000"/>
                </a:spcAft>
                <a:buNone/>
              </a:pPr>
              <a:r>
                <a:rPr lang="en-US" sz="1600" b="1" kern="1200">
                  <a:latin typeface="Roboto" panose="02000000000000000000" pitchFamily="2" charset="0"/>
                  <a:ea typeface="Roboto" panose="02000000000000000000" pitchFamily="2" charset="0"/>
                  <a:cs typeface="Roboto" panose="02000000000000000000" pitchFamily="2" charset="0"/>
                </a:rPr>
                <a:t>(d) </a:t>
              </a:r>
              <a:br>
                <a:rPr lang="en-US" sz="1600" b="1" kern="1200">
                  <a:latin typeface="Roboto" panose="02000000000000000000" pitchFamily="2" charset="0"/>
                  <a:ea typeface="Roboto" panose="02000000000000000000" pitchFamily="2" charset="0"/>
                  <a:cs typeface="Roboto" panose="02000000000000000000" pitchFamily="2" charset="0"/>
                </a:rPr>
              </a:br>
              <a:r>
                <a:rPr lang="en-US" sz="1600" b="1" kern="1200">
                  <a:latin typeface="Roboto" panose="02000000000000000000" pitchFamily="2" charset="0"/>
                  <a:ea typeface="Roboto" panose="02000000000000000000" pitchFamily="2" charset="0"/>
                  <a:cs typeface="Roboto" panose="02000000000000000000" pitchFamily="2" charset="0"/>
                </a:rPr>
                <a:t>Facilitating information Sharing </a:t>
              </a:r>
            </a:p>
          </p:txBody>
        </p:sp>
        <p:sp>
          <p:nvSpPr>
            <p:cNvPr id="11" name="Freeform 10">
              <a:extLst>
                <a:ext uri="{FF2B5EF4-FFF2-40B4-BE49-F238E27FC236}">
                  <a16:creationId xmlns:a16="http://schemas.microsoft.com/office/drawing/2014/main" id="{F9AFDD92-498C-E0D7-3EF8-46A3C7183E2C}"/>
                </a:ext>
              </a:extLst>
            </p:cNvPr>
            <p:cNvSpPr/>
            <p:nvPr/>
          </p:nvSpPr>
          <p:spPr>
            <a:xfrm>
              <a:off x="6436334" y="1713472"/>
              <a:ext cx="4114672" cy="4114672"/>
            </a:xfrm>
            <a:custGeom>
              <a:avLst/>
              <a:gdLst/>
              <a:ahLst/>
              <a:cxnLst/>
              <a:rect l="0" t="0" r="0" b="0"/>
              <a:pathLst>
                <a:path>
                  <a:moveTo>
                    <a:pt x="2466325" y="4073610"/>
                  </a:moveTo>
                  <a:arcTo wR="2057336" hR="2057336" stAng="4712008" swAng="1375983"/>
                </a:path>
              </a:pathLst>
            </a:custGeom>
            <a:noFill/>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2" name="Freeform 11">
              <a:extLst>
                <a:ext uri="{FF2B5EF4-FFF2-40B4-BE49-F238E27FC236}">
                  <a16:creationId xmlns:a16="http://schemas.microsoft.com/office/drawing/2014/main" id="{308A212E-A01F-AE25-C079-45CE87040457}"/>
                </a:ext>
              </a:extLst>
            </p:cNvPr>
            <p:cNvSpPr/>
            <p:nvPr/>
          </p:nvSpPr>
          <p:spPr>
            <a:xfrm>
              <a:off x="6492289" y="4920357"/>
              <a:ext cx="1584219" cy="1029742"/>
            </a:xfrm>
            <a:custGeom>
              <a:avLst/>
              <a:gdLst>
                <a:gd name="csX0" fmla="*/ 0 w 1584219"/>
                <a:gd name="csY0" fmla="*/ 171627 h 1029742"/>
                <a:gd name="csX1" fmla="*/ 171627 w 1584219"/>
                <a:gd name="csY1" fmla="*/ 0 h 1029742"/>
                <a:gd name="csX2" fmla="*/ 1412592 w 1584219"/>
                <a:gd name="csY2" fmla="*/ 0 h 1029742"/>
                <a:gd name="csX3" fmla="*/ 1584219 w 1584219"/>
                <a:gd name="csY3" fmla="*/ 171627 h 1029742"/>
                <a:gd name="csX4" fmla="*/ 1584219 w 1584219"/>
                <a:gd name="csY4" fmla="*/ 858115 h 1029742"/>
                <a:gd name="csX5" fmla="*/ 1412592 w 1584219"/>
                <a:gd name="csY5" fmla="*/ 1029742 h 1029742"/>
                <a:gd name="csX6" fmla="*/ 171627 w 1584219"/>
                <a:gd name="csY6" fmla="*/ 1029742 h 1029742"/>
                <a:gd name="csX7" fmla="*/ 0 w 1584219"/>
                <a:gd name="csY7" fmla="*/ 858115 h 1029742"/>
                <a:gd name="csX8" fmla="*/ 0 w 1584219"/>
                <a:gd name="csY8" fmla="*/ 171627 h 10297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84219" h="1029742">
                  <a:moveTo>
                    <a:pt x="0" y="171627"/>
                  </a:moveTo>
                  <a:cubicBezTo>
                    <a:pt x="0" y="76840"/>
                    <a:pt x="76840" y="0"/>
                    <a:pt x="171627" y="0"/>
                  </a:cubicBezTo>
                  <a:lnTo>
                    <a:pt x="1412592" y="0"/>
                  </a:lnTo>
                  <a:cubicBezTo>
                    <a:pt x="1507379" y="0"/>
                    <a:pt x="1584219" y="76840"/>
                    <a:pt x="1584219" y="171627"/>
                  </a:cubicBezTo>
                  <a:lnTo>
                    <a:pt x="1584219" y="858115"/>
                  </a:lnTo>
                  <a:cubicBezTo>
                    <a:pt x="1584219" y="952902"/>
                    <a:pt x="1507379" y="1029742"/>
                    <a:pt x="1412592" y="1029742"/>
                  </a:cubicBezTo>
                  <a:lnTo>
                    <a:pt x="171627" y="1029742"/>
                  </a:lnTo>
                  <a:cubicBezTo>
                    <a:pt x="76840" y="1029742"/>
                    <a:pt x="0" y="952902"/>
                    <a:pt x="0" y="858115"/>
                  </a:cubicBezTo>
                  <a:lnTo>
                    <a:pt x="0" y="17162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1228" tIns="111228" rIns="111228" bIns="111228" numCol="1" spcCol="1270" anchor="ctr" anchorCtr="0">
              <a:noAutofit/>
            </a:bodyPr>
            <a:lstStyle/>
            <a:p>
              <a:pPr marL="0" lvl="0" indent="0" algn="ctr" defTabSz="711200">
                <a:lnSpc>
                  <a:spcPct val="90000"/>
                </a:lnSpc>
                <a:spcBef>
                  <a:spcPct val="0"/>
                </a:spcBef>
                <a:spcAft>
                  <a:spcPct val="35000"/>
                </a:spcAft>
                <a:buNone/>
              </a:pPr>
              <a:r>
                <a:rPr lang="en-US" sz="1600" b="1" kern="1200">
                  <a:latin typeface="Roboto" panose="02000000000000000000" pitchFamily="2" charset="0"/>
                  <a:ea typeface="Roboto" panose="02000000000000000000" pitchFamily="2" charset="0"/>
                  <a:cs typeface="Roboto" panose="02000000000000000000" pitchFamily="2" charset="0"/>
                </a:rPr>
                <a:t>(e) </a:t>
              </a:r>
              <a:br>
                <a:rPr lang="en-US" sz="1600" b="1" kern="1200">
                  <a:latin typeface="Roboto" panose="02000000000000000000" pitchFamily="2" charset="0"/>
                  <a:ea typeface="Roboto" panose="02000000000000000000" pitchFamily="2" charset="0"/>
                  <a:cs typeface="Roboto" panose="02000000000000000000" pitchFamily="2" charset="0"/>
                </a:rPr>
              </a:br>
              <a:r>
                <a:rPr lang="en-US" sz="1600" b="1" kern="1200">
                  <a:latin typeface="Roboto" panose="02000000000000000000" pitchFamily="2" charset="0"/>
                  <a:ea typeface="Roboto" panose="02000000000000000000" pitchFamily="2" charset="0"/>
                  <a:cs typeface="Roboto" panose="02000000000000000000" pitchFamily="2" charset="0"/>
                </a:rPr>
                <a:t>Integrating capacity building</a:t>
              </a:r>
              <a:endParaRPr lang="en-GB" sz="1600" b="1" kern="1200">
                <a:latin typeface="Roboto" panose="02000000000000000000" pitchFamily="2" charset="0"/>
                <a:ea typeface="Roboto" panose="02000000000000000000" pitchFamily="2" charset="0"/>
                <a:cs typeface="Roboto" panose="02000000000000000000" pitchFamily="2" charset="0"/>
              </a:endParaRPr>
            </a:p>
          </p:txBody>
        </p:sp>
        <p:sp>
          <p:nvSpPr>
            <p:cNvPr id="13" name="Freeform 12">
              <a:extLst>
                <a:ext uri="{FF2B5EF4-FFF2-40B4-BE49-F238E27FC236}">
                  <a16:creationId xmlns:a16="http://schemas.microsoft.com/office/drawing/2014/main" id="{F269FE6E-577E-8357-6D8F-C16F42545052}"/>
                </a:ext>
              </a:extLst>
            </p:cNvPr>
            <p:cNvSpPr>
              <a:spLocks noGrp="1" noRot="1" noMove="1" noResize="1" noEditPoints="1" noAdjustHandles="1" noChangeArrowheads="1" noChangeShapeType="1"/>
            </p:cNvSpPr>
            <p:nvPr/>
          </p:nvSpPr>
          <p:spPr>
            <a:xfrm>
              <a:off x="6436334" y="1713472"/>
              <a:ext cx="4114672" cy="4114672"/>
            </a:xfrm>
            <a:custGeom>
              <a:avLst/>
              <a:gdLst/>
              <a:ahLst/>
              <a:cxnLst/>
              <a:rect l="0" t="0" r="0" b="0"/>
              <a:pathLst>
                <a:path>
                  <a:moveTo>
                    <a:pt x="343796" y="3195938"/>
                  </a:moveTo>
                  <a:arcTo wR="2057336" hR="2057336" stAng="8783820" swAng="2196275"/>
                </a:path>
              </a:pathLst>
            </a:custGeom>
            <a:noFill/>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4" name="Freeform 13">
              <a:extLst>
                <a:ext uri="{FF2B5EF4-FFF2-40B4-BE49-F238E27FC236}">
                  <a16:creationId xmlns:a16="http://schemas.microsoft.com/office/drawing/2014/main" id="{33C17B60-483D-774E-0AD0-406ECF87FF0B}"/>
                </a:ext>
              </a:extLst>
            </p:cNvPr>
            <p:cNvSpPr/>
            <p:nvPr/>
          </p:nvSpPr>
          <p:spPr>
            <a:xfrm>
              <a:off x="5744918" y="2620185"/>
              <a:ext cx="1584219" cy="1029742"/>
            </a:xfrm>
            <a:custGeom>
              <a:avLst/>
              <a:gdLst>
                <a:gd name="csX0" fmla="*/ 0 w 1584219"/>
                <a:gd name="csY0" fmla="*/ 171627 h 1029742"/>
                <a:gd name="csX1" fmla="*/ 171627 w 1584219"/>
                <a:gd name="csY1" fmla="*/ 0 h 1029742"/>
                <a:gd name="csX2" fmla="*/ 1412592 w 1584219"/>
                <a:gd name="csY2" fmla="*/ 0 h 1029742"/>
                <a:gd name="csX3" fmla="*/ 1584219 w 1584219"/>
                <a:gd name="csY3" fmla="*/ 171627 h 1029742"/>
                <a:gd name="csX4" fmla="*/ 1584219 w 1584219"/>
                <a:gd name="csY4" fmla="*/ 858115 h 1029742"/>
                <a:gd name="csX5" fmla="*/ 1412592 w 1584219"/>
                <a:gd name="csY5" fmla="*/ 1029742 h 1029742"/>
                <a:gd name="csX6" fmla="*/ 171627 w 1584219"/>
                <a:gd name="csY6" fmla="*/ 1029742 h 1029742"/>
                <a:gd name="csX7" fmla="*/ 0 w 1584219"/>
                <a:gd name="csY7" fmla="*/ 858115 h 1029742"/>
                <a:gd name="csX8" fmla="*/ 0 w 1584219"/>
                <a:gd name="csY8" fmla="*/ 171627 h 10297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84219" h="1029742">
                  <a:moveTo>
                    <a:pt x="0" y="171627"/>
                  </a:moveTo>
                  <a:cubicBezTo>
                    <a:pt x="0" y="76840"/>
                    <a:pt x="76840" y="0"/>
                    <a:pt x="171627" y="0"/>
                  </a:cubicBezTo>
                  <a:lnTo>
                    <a:pt x="1412592" y="0"/>
                  </a:lnTo>
                  <a:cubicBezTo>
                    <a:pt x="1507379" y="0"/>
                    <a:pt x="1584219" y="76840"/>
                    <a:pt x="1584219" y="171627"/>
                  </a:cubicBezTo>
                  <a:lnTo>
                    <a:pt x="1584219" y="858115"/>
                  </a:lnTo>
                  <a:cubicBezTo>
                    <a:pt x="1584219" y="952902"/>
                    <a:pt x="1507379" y="1029742"/>
                    <a:pt x="1412592" y="1029742"/>
                  </a:cubicBezTo>
                  <a:lnTo>
                    <a:pt x="171627" y="1029742"/>
                  </a:lnTo>
                  <a:cubicBezTo>
                    <a:pt x="76840" y="1029742"/>
                    <a:pt x="0" y="952902"/>
                    <a:pt x="0" y="858115"/>
                  </a:cubicBezTo>
                  <a:lnTo>
                    <a:pt x="0" y="17162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1228" tIns="111228" rIns="111228" bIns="111228" numCol="1" spcCol="1270" anchor="ctr" anchorCtr="0">
              <a:noAutofit/>
            </a:bodyPr>
            <a:lstStyle/>
            <a:p>
              <a:pPr marL="0" lvl="0" indent="0" algn="ctr" defTabSz="711200">
                <a:lnSpc>
                  <a:spcPct val="90000"/>
                </a:lnSpc>
                <a:spcBef>
                  <a:spcPct val="0"/>
                </a:spcBef>
                <a:spcAft>
                  <a:spcPct val="35000"/>
                </a:spcAft>
                <a:buNone/>
              </a:pPr>
              <a:r>
                <a:rPr lang="en-GB" sz="1600" b="1" kern="1200">
                  <a:latin typeface="Roboto" panose="02000000000000000000" pitchFamily="2" charset="0"/>
                  <a:ea typeface="Roboto" panose="02000000000000000000" pitchFamily="2" charset="0"/>
                  <a:cs typeface="Roboto" panose="02000000000000000000" pitchFamily="2" charset="0"/>
                </a:rPr>
                <a:t>(a) Undertaking horizon scanning </a:t>
              </a:r>
              <a:r>
                <a:rPr lang="en-US" sz="1600" b="1" kern="1200">
                  <a:latin typeface="Roboto" panose="02000000000000000000" pitchFamily="2" charset="0"/>
                  <a:ea typeface="Roboto" panose="02000000000000000000" pitchFamily="2" charset="0"/>
                  <a:cs typeface="Roboto" panose="02000000000000000000" pitchFamily="2" charset="0"/>
                </a:rPr>
                <a:t> </a:t>
              </a:r>
            </a:p>
          </p:txBody>
        </p:sp>
        <p:sp>
          <p:nvSpPr>
            <p:cNvPr id="15" name="Freeform 14">
              <a:extLst>
                <a:ext uri="{FF2B5EF4-FFF2-40B4-BE49-F238E27FC236}">
                  <a16:creationId xmlns:a16="http://schemas.microsoft.com/office/drawing/2014/main" id="{F6B8593F-4E6A-908C-CFB7-0D0EBD05B8CB}"/>
                </a:ext>
              </a:extLst>
            </p:cNvPr>
            <p:cNvSpPr/>
            <p:nvPr/>
          </p:nvSpPr>
          <p:spPr>
            <a:xfrm>
              <a:off x="6436334" y="1713472"/>
              <a:ext cx="4114672" cy="4114672"/>
            </a:xfrm>
            <a:custGeom>
              <a:avLst/>
              <a:gdLst/>
              <a:ahLst/>
              <a:cxnLst/>
              <a:rect l="0" t="0" r="0" b="0"/>
              <a:pathLst>
                <a:path>
                  <a:moveTo>
                    <a:pt x="358476" y="896944"/>
                  </a:moveTo>
                  <a:arcTo wR="2057336" hR="2057336" stAng="12860081" swAng="1961502"/>
                </a:path>
              </a:pathLst>
            </a:custGeom>
            <a:noFill/>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grpSp>
      <p:sp>
        <p:nvSpPr>
          <p:cNvPr id="2" name="TextBox 1">
            <a:extLst>
              <a:ext uri="{FF2B5EF4-FFF2-40B4-BE49-F238E27FC236}">
                <a16:creationId xmlns:a16="http://schemas.microsoft.com/office/drawing/2014/main" id="{D3953BBA-7D77-7599-92F8-53197CA1DFA4}"/>
              </a:ext>
            </a:extLst>
          </p:cNvPr>
          <p:cNvSpPr txBox="1"/>
          <p:nvPr/>
        </p:nvSpPr>
        <p:spPr>
          <a:xfrm>
            <a:off x="7735356" y="3419094"/>
            <a:ext cx="1550424" cy="461665"/>
          </a:xfrm>
          <a:prstGeom prst="rect">
            <a:avLst/>
          </a:prstGeom>
          <a:noFill/>
        </p:spPr>
        <p:txBody>
          <a:bodyPr wrap="none" rtlCol="0">
            <a:spAutoFit/>
          </a:bodyPr>
          <a:lstStyle/>
          <a:p>
            <a:r>
              <a:rPr lang="en-US" sz="2400" b="1" dirty="0">
                <a:solidFill>
                  <a:srgbClr val="00AEEF"/>
                </a:solidFill>
                <a:latin typeface="Roboto"/>
                <a:ea typeface="Roboto"/>
                <a:cs typeface="Roboto"/>
              </a:rPr>
              <a:t>Functions</a:t>
            </a:r>
          </a:p>
        </p:txBody>
      </p:sp>
    </p:spTree>
    <p:extLst>
      <p:ext uri="{BB962C8B-B14F-4D97-AF65-F5344CB8AC3E}">
        <p14:creationId xmlns:p14="http://schemas.microsoft.com/office/powerpoint/2010/main" val="2593268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4A21FBB-4687-4BCA-178D-731F226A7BA2}"/>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FFF61A4E-3068-326A-AAD2-F7DA80671C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1E3D3C77-E2CE-241E-BC35-3570E0BBD7BD}"/>
              </a:ext>
            </a:extLst>
          </p:cNvPr>
          <p:cNvSpPr txBox="1"/>
          <p:nvPr/>
        </p:nvSpPr>
        <p:spPr>
          <a:xfrm>
            <a:off x="1003299" y="486196"/>
            <a:ext cx="7377130" cy="584775"/>
          </a:xfrm>
          <a:prstGeom prst="rect">
            <a:avLst/>
          </a:prstGeom>
          <a:noFill/>
        </p:spPr>
        <p:txBody>
          <a:bodyPr wrap="square" lIns="91440" tIns="45720" rIns="91440" bIns="45720" anchor="t">
            <a:spAutoFit/>
          </a:bodyPr>
          <a:lstStyle/>
          <a:p>
            <a:pPr marL="0" lvl="1"/>
            <a:r>
              <a:rPr lang="en-US" sz="3200" b="1">
                <a:solidFill>
                  <a:srgbClr val="00AEEF"/>
                </a:solidFill>
                <a:latin typeface="Roboto"/>
                <a:ea typeface="Roboto"/>
                <a:cs typeface="Roboto"/>
              </a:rPr>
              <a:t>Operating principles and approaches </a:t>
            </a:r>
            <a:endParaRPr lang="en-US"/>
          </a:p>
        </p:txBody>
      </p:sp>
      <p:sp>
        <p:nvSpPr>
          <p:cNvPr id="5" name="TextBox 4">
            <a:extLst>
              <a:ext uri="{FF2B5EF4-FFF2-40B4-BE49-F238E27FC236}">
                <a16:creationId xmlns:a16="http://schemas.microsoft.com/office/drawing/2014/main" id="{DA4D9B52-D47A-7A5D-2F51-D09B26711742}"/>
              </a:ext>
            </a:extLst>
          </p:cNvPr>
          <p:cNvSpPr txBox="1"/>
          <p:nvPr/>
        </p:nvSpPr>
        <p:spPr>
          <a:xfrm>
            <a:off x="1003298" y="1179093"/>
            <a:ext cx="7188201" cy="769441"/>
          </a:xfrm>
          <a:prstGeom prst="rect">
            <a:avLst/>
          </a:prstGeom>
          <a:noFill/>
        </p:spPr>
        <p:txBody>
          <a:bodyPr wrap="square" lIns="91440" tIns="45720" rIns="91440" bIns="45720" anchor="t">
            <a:spAutoFit/>
          </a:bodyPr>
          <a:lstStyle/>
          <a:p>
            <a:pPr marL="0" lvl="1"/>
            <a:r>
              <a:rPr lang="en-US" sz="2400" b="1">
                <a:solidFill>
                  <a:srgbClr val="00AEEF"/>
                </a:solidFill>
                <a:latin typeface="Roboto"/>
                <a:ea typeface="Roboto"/>
                <a:cs typeface="Roboto"/>
              </a:rPr>
              <a:t>In carrying out its work, including:</a:t>
            </a:r>
          </a:p>
          <a:p>
            <a:pPr marL="0" lvl="1"/>
            <a:endParaRPr lang="en-US" sz="2000">
              <a:latin typeface="Roboto"/>
              <a:ea typeface="Roboto"/>
              <a:cs typeface="Roboto"/>
            </a:endParaRPr>
          </a:p>
        </p:txBody>
      </p:sp>
      <p:cxnSp>
        <p:nvCxnSpPr>
          <p:cNvPr id="10" name="Straight Connector 9">
            <a:extLst>
              <a:ext uri="{FF2B5EF4-FFF2-40B4-BE49-F238E27FC236}">
                <a16:creationId xmlns:a16="http://schemas.microsoft.com/office/drawing/2014/main" id="{1497EE74-B75F-2FFE-18FE-3D006C212F1C}"/>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3" name="TextBox 8">
            <a:extLst>
              <a:ext uri="{FF2B5EF4-FFF2-40B4-BE49-F238E27FC236}">
                <a16:creationId xmlns:a16="http://schemas.microsoft.com/office/drawing/2014/main" id="{E0626B0B-DED0-CD12-2859-192AD0A23532}"/>
              </a:ext>
            </a:extLst>
          </p:cNvPr>
          <p:cNvSpPr txBox="1"/>
          <p:nvPr/>
        </p:nvSpPr>
        <p:spPr>
          <a:xfrm>
            <a:off x="979735" y="2423668"/>
            <a:ext cx="8494221" cy="3756413"/>
          </a:xfrm>
          <a:prstGeom prst="rect">
            <a:avLst/>
          </a:prstGeom>
          <a:noFill/>
        </p:spPr>
        <p:txBody>
          <a:bodyPr wrap="square" lIns="91440" tIns="45720" rIns="91440" bIns="45720" numCol="1"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9410" indent="-285750">
              <a:lnSpc>
                <a:spcPct val="125000"/>
              </a:lnSpc>
              <a:spcBef>
                <a:spcPts val="600"/>
              </a:spcBef>
              <a:spcAft>
                <a:spcPts val="600"/>
              </a:spcAft>
              <a:buFont typeface="Arial" panose="020B0604020202020204" pitchFamily="34" charset="0"/>
              <a:buChar char="•"/>
              <a:defRPr/>
            </a:pPr>
            <a:r>
              <a:rPr lang="en-US" sz="2000" dirty="0">
                <a:latin typeface="Roboto"/>
                <a:ea typeface="Roboto"/>
                <a:cs typeface="Roboto"/>
              </a:rPr>
              <a:t>Being scientifically independent, and ensuring credibility and legitimacy including through peer review of its work.</a:t>
            </a:r>
          </a:p>
          <a:p>
            <a:pPr marL="359410" indent="-285750">
              <a:lnSpc>
                <a:spcPct val="125000"/>
              </a:lnSpc>
              <a:spcBef>
                <a:spcPts val="600"/>
              </a:spcBef>
              <a:spcAft>
                <a:spcPts val="600"/>
              </a:spcAft>
              <a:buFont typeface="Arial" panose="020B0604020202020204" pitchFamily="34" charset="0"/>
              <a:buChar char="•"/>
              <a:defRPr/>
            </a:pPr>
            <a:r>
              <a:rPr lang="en-US" sz="2000" dirty="0">
                <a:latin typeface="Roboto"/>
                <a:ea typeface="Roboto"/>
                <a:cs typeface="Roboto"/>
              </a:rPr>
              <a:t>Upholding consensus in its decision-making processes.</a:t>
            </a:r>
          </a:p>
          <a:p>
            <a:pPr marL="359410" indent="-285750">
              <a:lnSpc>
                <a:spcPct val="125000"/>
              </a:lnSpc>
              <a:spcBef>
                <a:spcPts val="600"/>
              </a:spcBef>
              <a:spcAft>
                <a:spcPts val="600"/>
              </a:spcAft>
              <a:buFont typeface="Arial" panose="020B0604020202020204" pitchFamily="34" charset="0"/>
              <a:buChar char="•"/>
              <a:defRPr/>
            </a:pPr>
            <a:r>
              <a:rPr lang="en-US" sz="2000" dirty="0">
                <a:latin typeface="Roboto"/>
                <a:ea typeface="Roboto"/>
                <a:cs typeface="Roboto"/>
              </a:rPr>
              <a:t>Respecting independence of science, while ensuring differing scientific views are adequately reflected by the Panel.</a:t>
            </a:r>
            <a:endParaRPr lang="en-US" sz="2000" dirty="0">
              <a:latin typeface="Roboto" panose="02000000000000000000" pitchFamily="2" charset="0"/>
              <a:ea typeface="Roboto" panose="02000000000000000000" pitchFamily="2" charset="0"/>
              <a:cs typeface="Roboto"/>
            </a:endParaRPr>
          </a:p>
          <a:p>
            <a:pPr marL="359410" lvl="1" indent="-285750">
              <a:lnSpc>
                <a:spcPct val="125000"/>
              </a:lnSpc>
              <a:spcBef>
                <a:spcPts val="600"/>
              </a:spcBef>
              <a:spcAft>
                <a:spcPts val="600"/>
              </a:spcAft>
              <a:buFont typeface="Arial" panose="020B0604020202020204" pitchFamily="34" charset="0"/>
              <a:buChar char="•"/>
              <a:defRPr/>
            </a:pPr>
            <a:r>
              <a:rPr lang="en-US" sz="2000" dirty="0">
                <a:latin typeface="Roboto"/>
                <a:ea typeface="Roboto"/>
                <a:cs typeface="Roboto"/>
              </a:rPr>
              <a:t>Ensuring impartiality and transparency …</a:t>
            </a:r>
          </a:p>
          <a:p>
            <a:pPr marL="359410" lvl="1" indent="-285750">
              <a:lnSpc>
                <a:spcPct val="125000"/>
              </a:lnSpc>
              <a:spcBef>
                <a:spcPts val="600"/>
              </a:spcBef>
              <a:spcAft>
                <a:spcPts val="600"/>
              </a:spcAft>
              <a:buFont typeface="Arial" panose="020B0604020202020204" pitchFamily="34" charset="0"/>
              <a:buChar char="•"/>
              <a:defRPr/>
            </a:pPr>
            <a:r>
              <a:rPr lang="en-US" sz="2000" dirty="0">
                <a:latin typeface="Roboto"/>
                <a:ea typeface="Roboto"/>
                <a:cs typeface="Roboto"/>
              </a:rPr>
              <a:t>Producing deliverables that are policy relevant without being policy prescriptive, and, scientifically robust, unbiased and accessible ... </a:t>
            </a:r>
            <a:endParaRPr lang="en-US" sz="2000" dirty="0">
              <a:ea typeface="Calibri"/>
              <a:cs typeface="Calibri"/>
            </a:endParaRPr>
          </a:p>
        </p:txBody>
      </p:sp>
      <p:sp>
        <p:nvSpPr>
          <p:cNvPr id="6" name="TextBox 5">
            <a:extLst>
              <a:ext uri="{FF2B5EF4-FFF2-40B4-BE49-F238E27FC236}">
                <a16:creationId xmlns:a16="http://schemas.microsoft.com/office/drawing/2014/main" id="{FC19AD3E-D7C5-1703-C1C4-A21362E40C9C}"/>
              </a:ext>
            </a:extLst>
          </p:cNvPr>
          <p:cNvSpPr txBox="1"/>
          <p:nvPr/>
        </p:nvSpPr>
        <p:spPr>
          <a:xfrm>
            <a:off x="9835388" y="3994507"/>
            <a:ext cx="1633747"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207131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4A21FBB-4687-4BCA-178D-731F226A7BA2}"/>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FFF61A4E-3068-326A-AAD2-F7DA80671C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1E3D3C77-E2CE-241E-BC35-3570E0BBD7BD}"/>
              </a:ext>
            </a:extLst>
          </p:cNvPr>
          <p:cNvSpPr txBox="1"/>
          <p:nvPr/>
        </p:nvSpPr>
        <p:spPr>
          <a:xfrm>
            <a:off x="1003299" y="486196"/>
            <a:ext cx="7785101" cy="584775"/>
          </a:xfrm>
          <a:prstGeom prst="rect">
            <a:avLst/>
          </a:prstGeom>
          <a:noFill/>
        </p:spPr>
        <p:txBody>
          <a:bodyPr wrap="square" lIns="91440" tIns="45720" rIns="91440" bIns="45720" anchor="t">
            <a:spAutoFit/>
          </a:bodyPr>
          <a:lstStyle/>
          <a:p>
            <a:pPr marL="0" lvl="1"/>
            <a:r>
              <a:rPr lang="en-US" sz="3200" b="1">
                <a:solidFill>
                  <a:srgbClr val="00AEEF"/>
                </a:solidFill>
                <a:latin typeface="Roboto"/>
                <a:ea typeface="Roboto"/>
                <a:cs typeface="Roboto"/>
              </a:rPr>
              <a:t>Institutional arrangements: Plenary</a:t>
            </a:r>
          </a:p>
        </p:txBody>
      </p:sp>
      <p:sp>
        <p:nvSpPr>
          <p:cNvPr id="5" name="TextBox 4">
            <a:extLst>
              <a:ext uri="{FF2B5EF4-FFF2-40B4-BE49-F238E27FC236}">
                <a16:creationId xmlns:a16="http://schemas.microsoft.com/office/drawing/2014/main" id="{DA4D9B52-D47A-7A5D-2F51-D09B26711742}"/>
              </a:ext>
            </a:extLst>
          </p:cNvPr>
          <p:cNvSpPr txBox="1"/>
          <p:nvPr/>
        </p:nvSpPr>
        <p:spPr>
          <a:xfrm>
            <a:off x="1003298" y="1264105"/>
            <a:ext cx="8178802" cy="461665"/>
          </a:xfrm>
          <a:prstGeom prst="rect">
            <a:avLst/>
          </a:prstGeom>
          <a:noFill/>
        </p:spPr>
        <p:txBody>
          <a:bodyPr wrap="square" lIns="91440" tIns="45720" rIns="91440" bIns="45720" anchor="t">
            <a:spAutoFit/>
          </a:bodyPr>
          <a:lstStyle/>
          <a:p>
            <a:pPr marL="0" lvl="1">
              <a:defRPr/>
            </a:pPr>
            <a:r>
              <a:rPr lang="en-US" sz="2400" b="1" dirty="0">
                <a:solidFill>
                  <a:srgbClr val="00AEEF"/>
                </a:solidFill>
                <a:latin typeface="Roboto"/>
                <a:ea typeface="Roboto"/>
                <a:cs typeface="Roboto"/>
              </a:rPr>
              <a:t>Membership</a:t>
            </a:r>
            <a:endParaRPr lang="en-US" sz="2400" dirty="0"/>
          </a:p>
        </p:txBody>
      </p:sp>
      <p:sp>
        <p:nvSpPr>
          <p:cNvPr id="8" name="TextBox 7">
            <a:extLst>
              <a:ext uri="{FF2B5EF4-FFF2-40B4-BE49-F238E27FC236}">
                <a16:creationId xmlns:a16="http://schemas.microsoft.com/office/drawing/2014/main" id="{AA61F418-9626-9C80-0ADF-57C4751832CD}"/>
              </a:ext>
            </a:extLst>
          </p:cNvPr>
          <p:cNvSpPr txBox="1"/>
          <p:nvPr/>
        </p:nvSpPr>
        <p:spPr>
          <a:xfrm>
            <a:off x="1003298" y="2156786"/>
            <a:ext cx="7941712" cy="707886"/>
          </a:xfrm>
          <a:prstGeom prst="rect">
            <a:avLst/>
          </a:prstGeom>
          <a:noFill/>
        </p:spPr>
        <p:txBody>
          <a:bodyPr wrap="square" lIns="91440" tIns="45720" rIns="91440" bIns="45720" anchor="t">
            <a:spAutoFit/>
          </a:bodyPr>
          <a:lstStyle/>
          <a:p>
            <a:pPr marL="0" lvl="1">
              <a:defRPr/>
            </a:pPr>
            <a:r>
              <a:rPr lang="en-US" sz="2000" b="1" dirty="0">
                <a:solidFill>
                  <a:srgbClr val="00AEEF"/>
                </a:solidFill>
                <a:latin typeface="Roboto"/>
                <a:ea typeface="Roboto"/>
                <a:cs typeface="Roboto"/>
              </a:rPr>
              <a:t>The Plenary is the governing and decision-making body of the Panel.  </a:t>
            </a:r>
          </a:p>
        </p:txBody>
      </p:sp>
      <p:sp>
        <p:nvSpPr>
          <p:cNvPr id="9" name="TextBox 8">
            <a:extLst>
              <a:ext uri="{FF2B5EF4-FFF2-40B4-BE49-F238E27FC236}">
                <a16:creationId xmlns:a16="http://schemas.microsoft.com/office/drawing/2014/main" id="{E0626B0B-DED0-CD12-2859-192AD0A23532}"/>
              </a:ext>
            </a:extLst>
          </p:cNvPr>
          <p:cNvSpPr txBox="1"/>
          <p:nvPr/>
        </p:nvSpPr>
        <p:spPr>
          <a:xfrm>
            <a:off x="979350" y="3301144"/>
            <a:ext cx="8534402" cy="2862322"/>
          </a:xfrm>
          <a:prstGeom prst="rect">
            <a:avLst/>
          </a:prstGeom>
          <a:noFill/>
        </p:spPr>
        <p:txBody>
          <a:bodyPr wrap="square" lIns="91440" tIns="45720" rIns="91440" bIns="45720" numCol="1" anchor="t">
            <a:spAutoFit/>
          </a:bodyPr>
          <a:lstStyle/>
          <a:p>
            <a:pPr marL="416560" indent="-342900">
              <a:buFont typeface="Arial" panose="020B0604020202020204" pitchFamily="34" charset="0"/>
              <a:buChar char="•"/>
              <a:defRPr/>
            </a:pPr>
            <a:r>
              <a:rPr lang="en-US" sz="2000" dirty="0">
                <a:latin typeface="Roboto"/>
                <a:ea typeface="Roboto"/>
                <a:cs typeface="Roboto"/>
              </a:rPr>
              <a:t>Membership of the Plenary is open to States Members of the UN and UN non-member observer states having expressed their intent to be a member of the Panel</a:t>
            </a:r>
          </a:p>
          <a:p>
            <a:pPr marL="416560" indent="-342900">
              <a:buFont typeface="Arial" panose="020B0604020202020204" pitchFamily="34" charset="0"/>
              <a:buChar char="•"/>
              <a:defRPr/>
            </a:pPr>
            <a:endParaRPr lang="en-US" sz="2000" dirty="0">
              <a:latin typeface="Roboto"/>
              <a:ea typeface="Roboto"/>
              <a:cs typeface="Roboto"/>
            </a:endParaRPr>
          </a:p>
          <a:p>
            <a:pPr marL="416560" indent="-342900">
              <a:buFont typeface="Arial" panose="020B0604020202020204" pitchFamily="34" charset="0"/>
              <a:buChar char="•"/>
              <a:defRPr/>
            </a:pPr>
            <a:r>
              <a:rPr lang="en-US" sz="2000" dirty="0">
                <a:latin typeface="Roboto"/>
                <a:ea typeface="Roboto"/>
                <a:cs typeface="Roboto"/>
              </a:rPr>
              <a:t>Open to participation as observers by any State not a member of the Panel, any United Nations entity and any other body, organization or agency […] qualified in matters covered by the Panel, and which has informed the Secretariat of its wish to be represented, subject to the rules of procedure and subject to two specific provisions …</a:t>
            </a:r>
          </a:p>
        </p:txBody>
      </p:sp>
      <p:cxnSp>
        <p:nvCxnSpPr>
          <p:cNvPr id="10" name="Straight Connector 9">
            <a:extLst>
              <a:ext uri="{FF2B5EF4-FFF2-40B4-BE49-F238E27FC236}">
                <a16:creationId xmlns:a16="http://schemas.microsoft.com/office/drawing/2014/main" id="{1497EE74-B75F-2FFE-18FE-3D006C212F1C}"/>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D9757CD-1D1E-E199-FF45-2296AB914155}"/>
              </a:ext>
            </a:extLst>
          </p:cNvPr>
          <p:cNvSpPr txBox="1"/>
          <p:nvPr/>
        </p:nvSpPr>
        <p:spPr>
          <a:xfrm>
            <a:off x="9806081" y="4062891"/>
            <a:ext cx="1663054"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2560692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F7362-7249-0925-B8D8-BD5E37DADBD8}"/>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C575F1C6-F075-DC4E-C8E3-CD8B2624F59C}"/>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89D387A3-070F-31FA-F52E-DC5562FCE1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158ABFF5-C521-B46F-3256-7C9F947CAD8D}"/>
              </a:ext>
            </a:extLst>
          </p:cNvPr>
          <p:cNvSpPr txBox="1"/>
          <p:nvPr/>
        </p:nvSpPr>
        <p:spPr>
          <a:xfrm>
            <a:off x="1003299" y="486196"/>
            <a:ext cx="7785101" cy="584775"/>
          </a:xfrm>
          <a:prstGeom prst="rect">
            <a:avLst/>
          </a:prstGeom>
          <a:noFill/>
        </p:spPr>
        <p:txBody>
          <a:bodyPr wrap="square" lIns="91440" tIns="45720" rIns="91440" bIns="45720" anchor="t">
            <a:spAutoFit/>
          </a:bodyPr>
          <a:lstStyle/>
          <a:p>
            <a:pPr marL="0" lvl="1"/>
            <a:r>
              <a:rPr lang="en-US" sz="3200" b="1">
                <a:solidFill>
                  <a:srgbClr val="00AEEF"/>
                </a:solidFill>
                <a:latin typeface="Roboto"/>
                <a:ea typeface="Roboto"/>
                <a:cs typeface="Roboto"/>
              </a:rPr>
              <a:t>Institutional arrangements: Plenary</a:t>
            </a:r>
          </a:p>
        </p:txBody>
      </p:sp>
      <p:sp>
        <p:nvSpPr>
          <p:cNvPr id="5" name="TextBox 4">
            <a:extLst>
              <a:ext uri="{FF2B5EF4-FFF2-40B4-BE49-F238E27FC236}">
                <a16:creationId xmlns:a16="http://schemas.microsoft.com/office/drawing/2014/main" id="{7CC5CA54-3FD9-40B7-D7D5-755701E26FD2}"/>
              </a:ext>
            </a:extLst>
          </p:cNvPr>
          <p:cNvSpPr txBox="1"/>
          <p:nvPr/>
        </p:nvSpPr>
        <p:spPr>
          <a:xfrm>
            <a:off x="1003298" y="1264105"/>
            <a:ext cx="8178802" cy="461665"/>
          </a:xfrm>
          <a:prstGeom prst="rect">
            <a:avLst/>
          </a:prstGeom>
          <a:noFill/>
        </p:spPr>
        <p:txBody>
          <a:bodyPr wrap="square" lIns="91440" tIns="45720" rIns="91440" bIns="45720" anchor="t">
            <a:spAutoFit/>
          </a:bodyPr>
          <a:lstStyle/>
          <a:p>
            <a:pPr marL="0" lvl="1">
              <a:defRPr/>
            </a:pPr>
            <a:r>
              <a:rPr lang="en-US" sz="2400" b="1" dirty="0">
                <a:solidFill>
                  <a:srgbClr val="00AEEF"/>
                </a:solidFill>
                <a:latin typeface="Roboto"/>
                <a:ea typeface="Roboto"/>
                <a:cs typeface="Roboto"/>
              </a:rPr>
              <a:t>Functions  </a:t>
            </a:r>
            <a:endParaRPr lang="en-US" sz="2400" dirty="0"/>
          </a:p>
        </p:txBody>
      </p:sp>
      <p:sp>
        <p:nvSpPr>
          <p:cNvPr id="9" name="TextBox 8">
            <a:extLst>
              <a:ext uri="{FF2B5EF4-FFF2-40B4-BE49-F238E27FC236}">
                <a16:creationId xmlns:a16="http://schemas.microsoft.com/office/drawing/2014/main" id="{801FDDCC-8ADC-0CDF-06A3-30410F1C7FEF}"/>
              </a:ext>
            </a:extLst>
          </p:cNvPr>
          <p:cNvSpPr txBox="1"/>
          <p:nvPr/>
        </p:nvSpPr>
        <p:spPr>
          <a:xfrm>
            <a:off x="890586" y="2525011"/>
            <a:ext cx="8534402" cy="3862596"/>
          </a:xfrm>
          <a:prstGeom prst="rect">
            <a:avLst/>
          </a:prstGeom>
          <a:noFill/>
        </p:spPr>
        <p:txBody>
          <a:bodyPr wrap="square" lIns="91440" tIns="45720" rIns="91440" bIns="45720" numCol="1" anchor="t">
            <a:spAutoFit/>
          </a:bodyPr>
          <a:lstStyle/>
          <a:p>
            <a:pPr marL="359410" lvl="1" indent="-285750">
              <a:spcAft>
                <a:spcPts val="600"/>
              </a:spcAft>
              <a:buFont typeface="Arial" panose="020B0604020202020204" pitchFamily="34" charset="0"/>
              <a:buChar char="•"/>
              <a:defRPr/>
            </a:pPr>
            <a:r>
              <a:rPr lang="en-US" sz="2000" dirty="0">
                <a:latin typeface="Roboto"/>
                <a:ea typeface="Roboto"/>
                <a:cs typeface="Roboto"/>
              </a:rPr>
              <a:t>(a) Adopting the Panel’s work </a:t>
            </a:r>
            <a:r>
              <a:rPr lang="en-US" sz="2000" dirty="0" err="1">
                <a:latin typeface="Roboto"/>
                <a:ea typeface="Roboto"/>
                <a:cs typeface="Roboto"/>
              </a:rPr>
              <a:t>programme</a:t>
            </a:r>
            <a:r>
              <a:rPr lang="en-US" sz="2000" dirty="0">
                <a:latin typeface="Roboto"/>
                <a:ea typeface="Roboto"/>
                <a:cs typeface="Roboto"/>
              </a:rPr>
              <a:t> to deliver on each of its functions; …</a:t>
            </a:r>
          </a:p>
          <a:p>
            <a:pPr marL="359410" lvl="1" indent="-285750">
              <a:spcAft>
                <a:spcPts val="600"/>
              </a:spcAft>
              <a:buFont typeface="Arial" panose="020B0604020202020204" pitchFamily="34" charset="0"/>
              <a:buChar char="•"/>
              <a:defRPr/>
            </a:pPr>
            <a:r>
              <a:rPr lang="en-US" sz="2000" dirty="0">
                <a:latin typeface="Roboto"/>
                <a:ea typeface="Roboto"/>
                <a:cs typeface="Roboto"/>
              </a:rPr>
              <a:t>(e) Electing the Bureau, the members of the Interdisciplinary Expert Committee and other subsidiary bodies, in accordance with the rules of procedure; </a:t>
            </a:r>
            <a:endParaRPr lang="en-US" sz="2000" dirty="0">
              <a:latin typeface="Roboto" panose="02000000000000000000" pitchFamily="2" charset="0"/>
              <a:ea typeface="Roboto" panose="02000000000000000000" pitchFamily="2" charset="0"/>
              <a:cs typeface="Roboto"/>
            </a:endParaRPr>
          </a:p>
          <a:p>
            <a:pPr marL="359410" lvl="1" indent="-285750">
              <a:spcAft>
                <a:spcPts val="600"/>
              </a:spcAft>
              <a:buFont typeface="Arial" panose="020B0604020202020204" pitchFamily="34" charset="0"/>
              <a:buChar char="•"/>
              <a:defRPr/>
            </a:pPr>
            <a:r>
              <a:rPr lang="en-US" sz="2000" dirty="0">
                <a:latin typeface="Roboto"/>
                <a:ea typeface="Roboto"/>
                <a:cs typeface="Roboto"/>
              </a:rPr>
              <a:t>(f) Establishing subsidiary bodies, in accordance with the rules of procedure. …</a:t>
            </a:r>
          </a:p>
          <a:p>
            <a:pPr marL="359410" lvl="1" indent="-285750">
              <a:spcAft>
                <a:spcPts val="600"/>
              </a:spcAft>
              <a:buFont typeface="Arial" panose="020B0604020202020204" pitchFamily="34" charset="0"/>
              <a:buChar char="•"/>
              <a:defRPr/>
            </a:pPr>
            <a:r>
              <a:rPr lang="en-US" sz="2000" dirty="0">
                <a:latin typeface="Roboto"/>
                <a:ea typeface="Roboto"/>
                <a:cs typeface="Roboto"/>
              </a:rPr>
              <a:t>(h) Approving a budget and overseeing the allocation of the Trust Fund. …</a:t>
            </a:r>
          </a:p>
          <a:p>
            <a:pPr marL="359410" lvl="1" indent="-285750">
              <a:spcAft>
                <a:spcPts val="600"/>
              </a:spcAft>
              <a:buFont typeface="Arial" panose="020B0604020202020204" pitchFamily="34" charset="0"/>
              <a:buChar char="•"/>
              <a:defRPr/>
            </a:pPr>
            <a:r>
              <a:rPr lang="en-US" sz="2000" dirty="0">
                <a:latin typeface="Roboto"/>
                <a:ea typeface="Roboto"/>
                <a:cs typeface="Roboto"/>
              </a:rPr>
              <a:t>(k) Adopting the rules of procedure by consensus. …</a:t>
            </a:r>
          </a:p>
          <a:p>
            <a:pPr marL="359410" marR="0" lvl="1" indent="-285750" algn="l" defTabSz="914400">
              <a:spcBef>
                <a:spcPts val="0"/>
              </a:spcBef>
              <a:spcAft>
                <a:spcPts val="600"/>
              </a:spcAft>
              <a:buClrTx/>
              <a:buSzTx/>
              <a:buFont typeface="Arial" panose="020B0604020202020204" pitchFamily="34" charset="0"/>
              <a:buChar char="•"/>
              <a:tabLst/>
              <a:defRPr/>
            </a:pPr>
            <a:endParaRPr lang="en-US" sz="2000" dirty="0">
              <a:latin typeface="Roboto" panose="02000000000000000000" pitchFamily="2" charset="0"/>
              <a:ea typeface="Roboto" panose="02000000000000000000" pitchFamily="2" charset="0"/>
              <a:cs typeface="Roboto"/>
            </a:endParaRPr>
          </a:p>
        </p:txBody>
      </p:sp>
      <p:cxnSp>
        <p:nvCxnSpPr>
          <p:cNvPr id="10" name="Straight Connector 9">
            <a:extLst>
              <a:ext uri="{FF2B5EF4-FFF2-40B4-BE49-F238E27FC236}">
                <a16:creationId xmlns:a16="http://schemas.microsoft.com/office/drawing/2014/main" id="{D747F8C9-A96F-3259-370C-5C7FFDE94BD0}"/>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0684762-B0E8-EEE3-E91A-A6EE3CCBC4CF}"/>
              </a:ext>
            </a:extLst>
          </p:cNvPr>
          <p:cNvSpPr txBox="1"/>
          <p:nvPr/>
        </p:nvSpPr>
        <p:spPr>
          <a:xfrm>
            <a:off x="9806081" y="4062891"/>
            <a:ext cx="1663054"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161015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0D0C0-4741-1CD1-E8ED-53CCD16FB4ED}"/>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D1942005-E7D7-607E-A462-07E1EE5AF5F8}"/>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A8B25DCA-79F7-DA4A-876A-C88EBC27C3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592D03A5-59FD-5C76-907E-1DCE77B3C62B}"/>
              </a:ext>
            </a:extLst>
          </p:cNvPr>
          <p:cNvSpPr txBox="1"/>
          <p:nvPr/>
        </p:nvSpPr>
        <p:spPr>
          <a:xfrm>
            <a:off x="1003299" y="486196"/>
            <a:ext cx="7632701" cy="584775"/>
          </a:xfrm>
          <a:prstGeom prst="rect">
            <a:avLst/>
          </a:prstGeom>
          <a:noFill/>
        </p:spPr>
        <p:txBody>
          <a:bodyPr wrap="square" lIns="91440" tIns="45720" rIns="91440" bIns="45720" anchor="t">
            <a:spAutoFit/>
          </a:bodyPr>
          <a:lstStyle/>
          <a:p>
            <a:pPr marL="0" lvl="1"/>
            <a:r>
              <a:rPr lang="en-US" sz="3200" b="1">
                <a:solidFill>
                  <a:srgbClr val="00AEEF"/>
                </a:solidFill>
                <a:latin typeface="Roboto"/>
                <a:ea typeface="Roboto"/>
                <a:cs typeface="Roboto"/>
              </a:rPr>
              <a:t>Institutional arrangements: Bureau</a:t>
            </a:r>
          </a:p>
        </p:txBody>
      </p:sp>
      <p:sp>
        <p:nvSpPr>
          <p:cNvPr id="8" name="TextBox 7">
            <a:extLst>
              <a:ext uri="{FF2B5EF4-FFF2-40B4-BE49-F238E27FC236}">
                <a16:creationId xmlns:a16="http://schemas.microsoft.com/office/drawing/2014/main" id="{80E49047-D792-FD1E-6DF6-0225411C5E01}"/>
              </a:ext>
            </a:extLst>
          </p:cNvPr>
          <p:cNvSpPr txBox="1"/>
          <p:nvPr/>
        </p:nvSpPr>
        <p:spPr>
          <a:xfrm>
            <a:off x="1003299" y="2193955"/>
            <a:ext cx="7941712" cy="1938992"/>
          </a:xfrm>
          <a:prstGeom prst="rect">
            <a:avLst/>
          </a:prstGeom>
          <a:noFill/>
        </p:spPr>
        <p:txBody>
          <a:bodyPr wrap="square" lIns="91440" tIns="45720" rIns="91440" bIns="45720" anchor="t">
            <a:spAutoFit/>
          </a:bodyPr>
          <a:lstStyle/>
          <a:p>
            <a:pPr marL="0" lvl="1">
              <a:defRPr/>
            </a:pPr>
            <a:r>
              <a:rPr lang="en-US" sz="2000" b="1" dirty="0">
                <a:solidFill>
                  <a:srgbClr val="00AEEF"/>
                </a:solidFill>
                <a:latin typeface="Roboto"/>
                <a:ea typeface="Roboto"/>
                <a:cs typeface="Roboto"/>
              </a:rPr>
              <a:t>The Bureau is comprised of two members from each of the five United Nations regional groups and elected by the Plenary, including one chair and nine vice chairs. </a:t>
            </a:r>
          </a:p>
          <a:p>
            <a:pPr marL="0" lvl="1">
              <a:defRPr/>
            </a:pPr>
            <a:endParaRPr lang="en-US" sz="2000" b="1" dirty="0">
              <a:solidFill>
                <a:srgbClr val="00AEEF"/>
              </a:solidFill>
              <a:latin typeface="Roboto"/>
              <a:ea typeface="Roboto"/>
              <a:cs typeface="Roboto"/>
            </a:endParaRPr>
          </a:p>
          <a:p>
            <a:pPr marL="0" lvl="1">
              <a:defRPr/>
            </a:pPr>
            <a:r>
              <a:rPr lang="en-US" sz="2000" dirty="0">
                <a:latin typeface="Roboto"/>
                <a:ea typeface="Roboto"/>
                <a:cs typeface="Roboto"/>
              </a:rPr>
              <a:t>Members of the Bureau are selected for their expertise relevant to the functions of the Bureau.</a:t>
            </a:r>
            <a:endParaRPr lang="en-US" sz="2000" dirty="0">
              <a:ea typeface="Calibri"/>
              <a:cs typeface="Calibri"/>
            </a:endParaRPr>
          </a:p>
        </p:txBody>
      </p:sp>
      <p:cxnSp>
        <p:nvCxnSpPr>
          <p:cNvPr id="10" name="Straight Connector 9">
            <a:extLst>
              <a:ext uri="{FF2B5EF4-FFF2-40B4-BE49-F238E27FC236}">
                <a16:creationId xmlns:a16="http://schemas.microsoft.com/office/drawing/2014/main" id="{F6D90A38-C7D5-E32F-A044-F40F7000A37F}"/>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CBE1AB8-36E3-6A20-AC7A-651BEF2586AA}"/>
              </a:ext>
            </a:extLst>
          </p:cNvPr>
          <p:cNvSpPr txBox="1"/>
          <p:nvPr/>
        </p:nvSpPr>
        <p:spPr>
          <a:xfrm>
            <a:off x="9762685" y="4062891"/>
            <a:ext cx="1706450" cy="1346849"/>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2032011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4A21FBB-4687-4BCA-178D-731F226A7BA2}"/>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FFF61A4E-3068-326A-AAD2-F7DA80671C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1E3D3C77-E2CE-241E-BC35-3570E0BBD7BD}"/>
              </a:ext>
            </a:extLst>
          </p:cNvPr>
          <p:cNvSpPr txBox="1"/>
          <p:nvPr/>
        </p:nvSpPr>
        <p:spPr>
          <a:xfrm>
            <a:off x="1003299" y="486196"/>
            <a:ext cx="7941711" cy="1077218"/>
          </a:xfrm>
          <a:prstGeom prst="rect">
            <a:avLst/>
          </a:prstGeom>
          <a:noFill/>
        </p:spPr>
        <p:txBody>
          <a:bodyPr wrap="square" lIns="91440" tIns="45720" rIns="91440" bIns="45720" anchor="t">
            <a:spAutoFit/>
          </a:bodyPr>
          <a:lstStyle/>
          <a:p>
            <a:pPr marL="0" lvl="1"/>
            <a:r>
              <a:rPr lang="en-US" sz="3200" b="1">
                <a:solidFill>
                  <a:srgbClr val="00AEEF"/>
                </a:solidFill>
                <a:latin typeface="Roboto"/>
                <a:ea typeface="Roboto"/>
                <a:cs typeface="Roboto"/>
              </a:rPr>
              <a:t>Institutional arrangements: </a:t>
            </a:r>
            <a:br>
              <a:rPr lang="en-US" sz="3200" b="1">
                <a:solidFill>
                  <a:srgbClr val="00AEEF"/>
                </a:solidFill>
                <a:latin typeface="Roboto"/>
                <a:ea typeface="Roboto"/>
                <a:cs typeface="Roboto"/>
              </a:rPr>
            </a:br>
            <a:r>
              <a:rPr lang="en-US" sz="3200" b="1">
                <a:solidFill>
                  <a:srgbClr val="00AEEF"/>
                </a:solidFill>
                <a:latin typeface="Roboto"/>
                <a:ea typeface="Roboto"/>
                <a:cs typeface="Roboto"/>
              </a:rPr>
              <a:t>Interdisciplinary Expert Panel (IEC) </a:t>
            </a:r>
          </a:p>
        </p:txBody>
      </p:sp>
      <p:sp>
        <p:nvSpPr>
          <p:cNvPr id="8" name="TextBox 7">
            <a:extLst>
              <a:ext uri="{FF2B5EF4-FFF2-40B4-BE49-F238E27FC236}">
                <a16:creationId xmlns:a16="http://schemas.microsoft.com/office/drawing/2014/main" id="{AA61F418-9626-9C80-0ADF-57C4751832CD}"/>
              </a:ext>
            </a:extLst>
          </p:cNvPr>
          <p:cNvSpPr txBox="1"/>
          <p:nvPr/>
        </p:nvSpPr>
        <p:spPr>
          <a:xfrm>
            <a:off x="1003299" y="2068090"/>
            <a:ext cx="7941712" cy="1323439"/>
          </a:xfrm>
          <a:prstGeom prst="rect">
            <a:avLst/>
          </a:prstGeom>
          <a:noFill/>
        </p:spPr>
        <p:txBody>
          <a:bodyPr wrap="square" lIns="91440" tIns="45720" rIns="91440" bIns="45720" anchor="t">
            <a:spAutoFit/>
          </a:bodyPr>
          <a:lstStyle/>
          <a:p>
            <a:pPr marL="0" lvl="1">
              <a:defRPr/>
            </a:pPr>
            <a:r>
              <a:rPr lang="en-US" sz="2000" b="1" dirty="0">
                <a:solidFill>
                  <a:srgbClr val="00AEEF"/>
                </a:solidFill>
                <a:latin typeface="Roboto"/>
                <a:ea typeface="Roboto"/>
                <a:cs typeface="Roboto"/>
              </a:rPr>
              <a:t>IEC will be comprised of experts from each of the five United Nations regional groups, with due regard to equitable geographical representation.  </a:t>
            </a:r>
          </a:p>
          <a:p>
            <a:pPr marL="0" lvl="1">
              <a:defRPr/>
            </a:pPr>
            <a:endParaRPr lang="en-US" sz="2000" dirty="0"/>
          </a:p>
        </p:txBody>
      </p:sp>
      <p:sp>
        <p:nvSpPr>
          <p:cNvPr id="9" name="TextBox 8">
            <a:extLst>
              <a:ext uri="{FF2B5EF4-FFF2-40B4-BE49-F238E27FC236}">
                <a16:creationId xmlns:a16="http://schemas.microsoft.com/office/drawing/2014/main" id="{E0626B0B-DED0-CD12-2859-192AD0A23532}"/>
              </a:ext>
            </a:extLst>
          </p:cNvPr>
          <p:cNvSpPr txBox="1"/>
          <p:nvPr/>
        </p:nvSpPr>
        <p:spPr>
          <a:xfrm>
            <a:off x="934196" y="3344917"/>
            <a:ext cx="8802782" cy="1291379"/>
          </a:xfrm>
          <a:prstGeom prst="rect">
            <a:avLst/>
          </a:prstGeom>
          <a:noFill/>
        </p:spPr>
        <p:txBody>
          <a:bodyPr wrap="square" lIns="91440" tIns="45720" rIns="91440" bIns="45720" numCol="1" anchor="t">
            <a:spAutoFit/>
          </a:bodyPr>
          <a:lstStyle/>
          <a:p>
            <a:pPr marL="359410" indent="-285750">
              <a:lnSpc>
                <a:spcPct val="125000"/>
              </a:lnSpc>
              <a:spcAft>
                <a:spcPts val="600"/>
              </a:spcAft>
              <a:buFont typeface="Arial" panose="020B0604020202020204" pitchFamily="34" charset="0"/>
              <a:buChar char="•"/>
              <a:defRPr/>
            </a:pPr>
            <a:r>
              <a:rPr lang="en-US" sz="2000" dirty="0">
                <a:latin typeface="Roboto"/>
                <a:ea typeface="Roboto"/>
                <a:cs typeface="Roboto"/>
              </a:rPr>
              <a:t>Nominated by regions and elected by the Plenary</a:t>
            </a:r>
          </a:p>
          <a:p>
            <a:pPr marL="359410" indent="-285750">
              <a:lnSpc>
                <a:spcPct val="125000"/>
              </a:lnSpc>
              <a:spcAft>
                <a:spcPts val="600"/>
              </a:spcAft>
              <a:buFont typeface="Arial" panose="020B0604020202020204" pitchFamily="34" charset="0"/>
              <a:buChar char="•"/>
              <a:defRPr/>
            </a:pPr>
            <a:r>
              <a:rPr lang="en-US" sz="2000" dirty="0">
                <a:latin typeface="Roboto"/>
                <a:ea typeface="Roboto"/>
                <a:cs typeface="Roboto"/>
              </a:rPr>
              <a:t>Selected for their expertise, including scientific, socioeconomic, and technical expertise, and knowledge of the main elements of Panel’s work</a:t>
            </a:r>
          </a:p>
        </p:txBody>
      </p:sp>
      <p:cxnSp>
        <p:nvCxnSpPr>
          <p:cNvPr id="10" name="Straight Connector 9">
            <a:extLst>
              <a:ext uri="{FF2B5EF4-FFF2-40B4-BE49-F238E27FC236}">
                <a16:creationId xmlns:a16="http://schemas.microsoft.com/office/drawing/2014/main" id="{1497EE74-B75F-2FFE-18FE-3D006C212F1C}"/>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EC60FFF-0BD4-8E87-C790-9E5030758E9B}"/>
              </a:ext>
            </a:extLst>
          </p:cNvPr>
          <p:cNvSpPr txBox="1"/>
          <p:nvPr/>
        </p:nvSpPr>
        <p:spPr>
          <a:xfrm>
            <a:off x="9806081" y="4062891"/>
            <a:ext cx="1663054"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179439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D9A4-6C64-9FD0-9202-65764352A7B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608CA84B-DC24-20E0-B6AE-535E0F876CD8}"/>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39B856B9-D7C8-7E6B-C0AC-10B647372C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D876DF29-40CE-127B-096D-DE523500C62C}"/>
              </a:ext>
            </a:extLst>
          </p:cNvPr>
          <p:cNvSpPr txBox="1"/>
          <p:nvPr/>
        </p:nvSpPr>
        <p:spPr>
          <a:xfrm>
            <a:off x="1003299" y="486196"/>
            <a:ext cx="8102601" cy="2062103"/>
          </a:xfrm>
          <a:prstGeom prst="rect">
            <a:avLst/>
          </a:prstGeom>
          <a:noFill/>
        </p:spPr>
        <p:txBody>
          <a:bodyPr wrap="square" lIns="91440" tIns="45720" rIns="91440" bIns="45720" anchor="t">
            <a:spAutoFit/>
          </a:bodyPr>
          <a:lstStyle/>
          <a:p>
            <a:pPr marL="0" lvl="1"/>
            <a:r>
              <a:rPr lang="en-US" sz="3200" b="1">
                <a:solidFill>
                  <a:srgbClr val="00AEEF"/>
                </a:solidFill>
                <a:latin typeface="Roboto"/>
                <a:ea typeface="Roboto"/>
                <a:cs typeface="Roboto"/>
              </a:rPr>
              <a:t>Institutional arrangements: Secretariat, financial arrangements and partnerships</a:t>
            </a:r>
          </a:p>
          <a:p>
            <a:pPr marL="0" lvl="1"/>
            <a:endParaRPr lang="en-US" sz="3200" b="1">
              <a:solidFill>
                <a:srgbClr val="00AEEF"/>
              </a:solidFill>
              <a:latin typeface="Roboto"/>
              <a:ea typeface="Roboto"/>
              <a:cs typeface="Roboto"/>
            </a:endParaRPr>
          </a:p>
          <a:p>
            <a:pPr marL="0" lvl="1"/>
            <a:endParaRPr lang="en-US" sz="3200" b="1">
              <a:solidFill>
                <a:srgbClr val="00AEEF"/>
              </a:solidFill>
              <a:latin typeface="Roboto"/>
              <a:ea typeface="Roboto"/>
              <a:cs typeface="Roboto"/>
            </a:endParaRPr>
          </a:p>
        </p:txBody>
      </p:sp>
      <p:cxnSp>
        <p:nvCxnSpPr>
          <p:cNvPr id="10" name="Straight Connector 9">
            <a:extLst>
              <a:ext uri="{FF2B5EF4-FFF2-40B4-BE49-F238E27FC236}">
                <a16:creationId xmlns:a16="http://schemas.microsoft.com/office/drawing/2014/main" id="{15C909AF-A4C1-B517-9E14-9D5031D55301}"/>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84F55E0-C945-A1ED-EB4F-228FE204C1C2}"/>
              </a:ext>
            </a:extLst>
          </p:cNvPr>
          <p:cNvSpPr txBox="1"/>
          <p:nvPr/>
        </p:nvSpPr>
        <p:spPr>
          <a:xfrm>
            <a:off x="9806081" y="4062891"/>
            <a:ext cx="1663054"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
        <p:nvSpPr>
          <p:cNvPr id="6" name="TextBox 5">
            <a:extLst>
              <a:ext uri="{FF2B5EF4-FFF2-40B4-BE49-F238E27FC236}">
                <a16:creationId xmlns:a16="http://schemas.microsoft.com/office/drawing/2014/main" id="{518A13CC-4452-EA51-CD98-8B1645A7C883}"/>
              </a:ext>
            </a:extLst>
          </p:cNvPr>
          <p:cNvSpPr txBox="1"/>
          <p:nvPr/>
        </p:nvSpPr>
        <p:spPr>
          <a:xfrm>
            <a:off x="885307" y="2548299"/>
            <a:ext cx="8782568" cy="2554545"/>
          </a:xfrm>
          <a:prstGeom prst="rect">
            <a:avLst/>
          </a:prstGeom>
          <a:noFill/>
        </p:spPr>
        <p:txBody>
          <a:bodyPr wrap="square" lIns="91440" tIns="45720" rIns="91440" bIns="45720" numCol="1" anchor="t">
            <a:spAutoFit/>
          </a:bodyPr>
          <a:lstStyle/>
          <a:p>
            <a:pPr marL="359410" indent="-285750">
              <a:spcBef>
                <a:spcPts val="600"/>
              </a:spcBef>
              <a:spcAft>
                <a:spcPts val="600"/>
              </a:spcAft>
              <a:buFont typeface="Arial" panose="020B0604020202020204" pitchFamily="34" charset="0"/>
              <a:buChar char="•"/>
              <a:defRPr/>
            </a:pPr>
            <a:r>
              <a:rPr lang="en-US" sz="2000" dirty="0">
                <a:latin typeface="Roboto"/>
                <a:ea typeface="Roboto"/>
                <a:cs typeface="Roboto"/>
              </a:rPr>
              <a:t>A Trust Fund will be established and the Plenary will decide on the financial procedures. </a:t>
            </a:r>
          </a:p>
          <a:p>
            <a:pPr marL="359410" indent="-285750">
              <a:spcBef>
                <a:spcPts val="600"/>
              </a:spcBef>
              <a:spcAft>
                <a:spcPts val="600"/>
              </a:spcAft>
              <a:buFont typeface="Arial" panose="020B0604020202020204" pitchFamily="34" charset="0"/>
              <a:buChar char="•"/>
              <a:defRPr/>
            </a:pPr>
            <a:r>
              <a:rPr lang="en-US" sz="2000" dirty="0">
                <a:latin typeface="Roboto"/>
                <a:ea typeface="Roboto"/>
                <a:cs typeface="Roboto"/>
              </a:rPr>
              <a:t>UNEP will provide the secretariat for the Panel, which will be in a single location based on offers from members. </a:t>
            </a:r>
            <a:endParaRPr lang="en-US" sz="2000" dirty="0">
              <a:solidFill>
                <a:schemeClr val="tx1"/>
              </a:solidFill>
              <a:latin typeface="Roboto" panose="02000000000000000000" pitchFamily="2" charset="0"/>
              <a:ea typeface="Roboto" panose="02000000000000000000" pitchFamily="2" charset="0"/>
              <a:cs typeface="Roboto"/>
            </a:endParaRPr>
          </a:p>
          <a:p>
            <a:pPr marL="359410" indent="-285750">
              <a:spcBef>
                <a:spcPts val="600"/>
              </a:spcBef>
              <a:spcAft>
                <a:spcPts val="600"/>
              </a:spcAft>
              <a:buFont typeface="Arial" panose="020B0604020202020204" pitchFamily="34" charset="0"/>
              <a:buChar char="•"/>
              <a:defRPr/>
            </a:pPr>
            <a:r>
              <a:rPr lang="en-US" sz="2000" dirty="0">
                <a:latin typeface="Roboto"/>
                <a:ea typeface="Roboto"/>
                <a:cs typeface="Roboto"/>
              </a:rPr>
              <a:t>The Plenary will request the Secretariat to develop a proposal on establishing different types of partnerships to be considered by the Panel.</a:t>
            </a:r>
          </a:p>
        </p:txBody>
      </p:sp>
    </p:spTree>
    <p:extLst>
      <p:ext uri="{BB962C8B-B14F-4D97-AF65-F5344CB8AC3E}">
        <p14:creationId xmlns:p14="http://schemas.microsoft.com/office/powerpoint/2010/main" val="920445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1">
            <a:extLst>
              <a:ext uri="{FF2B5EF4-FFF2-40B4-BE49-F238E27FC236}">
                <a16:creationId xmlns:a16="http://schemas.microsoft.com/office/drawing/2014/main" id="{E9940C5B-6F15-732A-358F-CF8F45DA5B0F}"/>
              </a:ext>
            </a:extLst>
          </p:cNvPr>
          <p:cNvSpPr txBox="1">
            <a:spLocks/>
          </p:cNvSpPr>
          <p:nvPr/>
        </p:nvSpPr>
        <p:spPr>
          <a:xfrm>
            <a:off x="639286" y="388509"/>
            <a:ext cx="10515600" cy="7163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900" b="1" dirty="0">
                <a:solidFill>
                  <a:srgbClr val="00B0F0"/>
                </a:solidFill>
                <a:latin typeface="Roboto"/>
                <a:ea typeface="Roboto"/>
                <a:cs typeface="Roboto"/>
              </a:rPr>
              <a:t>Stakeholder Engagement in the Panel’s Work</a:t>
            </a:r>
          </a:p>
        </p:txBody>
      </p:sp>
      <p:sp>
        <p:nvSpPr>
          <p:cNvPr id="2" name="TextBox 1">
            <a:extLst>
              <a:ext uri="{FF2B5EF4-FFF2-40B4-BE49-F238E27FC236}">
                <a16:creationId xmlns:a16="http://schemas.microsoft.com/office/drawing/2014/main" id="{480BC004-4750-C5E6-D748-FE2066CFD66E}"/>
              </a:ext>
            </a:extLst>
          </p:cNvPr>
          <p:cNvSpPr txBox="1"/>
          <p:nvPr/>
        </p:nvSpPr>
        <p:spPr>
          <a:xfrm>
            <a:off x="639286" y="1978233"/>
            <a:ext cx="9028588" cy="3785652"/>
          </a:xfrm>
          <a:prstGeom prst="rect">
            <a:avLst/>
          </a:prstGeom>
          <a:noFill/>
        </p:spPr>
        <p:txBody>
          <a:bodyPr wrap="square" lIns="91440" tIns="45720" rIns="91440" bIns="45720" rtlCol="0" anchor="t">
            <a:spAutoFit/>
          </a:bodyPr>
          <a:lstStyle/>
          <a:p>
            <a:pPr marL="342900" indent="-342900">
              <a:spcBef>
                <a:spcPts val="600"/>
              </a:spcBef>
              <a:spcAft>
                <a:spcPts val="600"/>
              </a:spcAft>
              <a:buFont typeface="Arial" panose="020B0604020202020204" pitchFamily="34" charset="0"/>
              <a:buChar char="•"/>
            </a:pPr>
            <a:r>
              <a:rPr lang="en-US" sz="2000" dirty="0">
                <a:latin typeface="Roboto"/>
                <a:ea typeface="Gill Sans MT" panose="020B0502020104020203" pitchFamily="34" charset="0"/>
                <a:cs typeface="Gill Sans MT" panose="020B0502020104020203" pitchFamily="34" charset="0"/>
              </a:rPr>
              <a:t>Raise awareness of the Panel among your peers and networks</a:t>
            </a:r>
          </a:p>
          <a:p>
            <a:pPr marL="342900" indent="-342900">
              <a:spcBef>
                <a:spcPts val="600"/>
              </a:spcBef>
              <a:spcAft>
                <a:spcPts val="600"/>
              </a:spcAft>
              <a:buFont typeface="Arial" panose="020B0604020202020204" pitchFamily="34" charset="0"/>
              <a:buChar char="•"/>
            </a:pPr>
            <a:r>
              <a:rPr lang="en-US" sz="2000" dirty="0">
                <a:latin typeface="Roboto"/>
                <a:ea typeface="Gill Sans MT" panose="020B0502020104020203" pitchFamily="34" charset="0"/>
                <a:cs typeface="Gill Sans MT" panose="020B0502020104020203" pitchFamily="34" charset="0"/>
              </a:rPr>
              <a:t>Respond to calls for submissions with (joint) inputs, if so requested</a:t>
            </a:r>
          </a:p>
          <a:p>
            <a:pPr marL="342900" indent="-342900">
              <a:spcBef>
                <a:spcPts val="600"/>
              </a:spcBef>
              <a:spcAft>
                <a:spcPts val="600"/>
              </a:spcAft>
              <a:buFont typeface="Arial" panose="020B0604020202020204" pitchFamily="34" charset="0"/>
              <a:buChar char="•"/>
            </a:pPr>
            <a:r>
              <a:rPr lang="en-US" sz="2000" dirty="0">
                <a:latin typeface="Roboto"/>
                <a:ea typeface="Gill Sans MT" panose="020B0502020104020203" pitchFamily="34" charset="0"/>
                <a:cs typeface="Gill Sans MT" panose="020B0502020104020203" pitchFamily="34" charset="0"/>
              </a:rPr>
              <a:t>Participate in the Plenary as observers</a:t>
            </a:r>
          </a:p>
          <a:p>
            <a:pPr marL="342900" indent="-342900">
              <a:spcBef>
                <a:spcPts val="600"/>
              </a:spcBef>
              <a:spcAft>
                <a:spcPts val="600"/>
              </a:spcAft>
              <a:buFont typeface="Arial" panose="020B0604020202020204" pitchFamily="34" charset="0"/>
              <a:buChar char="•"/>
            </a:pPr>
            <a:r>
              <a:rPr lang="en-US" sz="2000" dirty="0">
                <a:latin typeface="Roboto"/>
                <a:ea typeface="Roboto"/>
                <a:cs typeface="Roboto"/>
              </a:rPr>
              <a:t>Participate as authors, information and data contributors, or reviewers in the Panel’s work (once the work </a:t>
            </a:r>
            <a:r>
              <a:rPr lang="en-US" sz="2000" dirty="0" err="1">
                <a:latin typeface="Roboto"/>
                <a:ea typeface="Roboto"/>
                <a:cs typeface="Roboto"/>
              </a:rPr>
              <a:t>programme</a:t>
            </a:r>
            <a:r>
              <a:rPr lang="en-US" sz="2000" dirty="0">
                <a:latin typeface="Roboto"/>
                <a:ea typeface="Roboto"/>
                <a:cs typeface="Roboto"/>
              </a:rPr>
              <a:t> has been agreed)</a:t>
            </a:r>
          </a:p>
          <a:p>
            <a:pPr marL="342900" indent="-342900">
              <a:spcBef>
                <a:spcPts val="600"/>
              </a:spcBef>
              <a:spcAft>
                <a:spcPts val="600"/>
              </a:spcAft>
              <a:buFont typeface="Arial" panose="020B0604020202020204" pitchFamily="34" charset="0"/>
              <a:buChar char="•"/>
            </a:pPr>
            <a:r>
              <a:rPr lang="en-US" sz="2000" dirty="0">
                <a:latin typeface="Roboto"/>
                <a:ea typeface="Roboto"/>
                <a:cs typeface="Roboto"/>
              </a:rPr>
              <a:t>Translate and disseminate the Panel’s outputs</a:t>
            </a:r>
          </a:p>
          <a:p>
            <a:pPr marL="342900" indent="-342900">
              <a:spcBef>
                <a:spcPts val="600"/>
              </a:spcBef>
              <a:spcAft>
                <a:spcPts val="600"/>
              </a:spcAft>
              <a:buFont typeface="Arial" panose="020B0604020202020204" pitchFamily="34" charset="0"/>
              <a:buChar char="•"/>
            </a:pPr>
            <a:r>
              <a:rPr lang="en-US" sz="2000" dirty="0">
                <a:latin typeface="Roboto"/>
                <a:ea typeface="Roboto"/>
                <a:cs typeface="Roboto"/>
              </a:rPr>
              <a:t>Foster uptake of the deliverables by policy- and decision-makers</a:t>
            </a:r>
          </a:p>
          <a:p>
            <a:pPr marL="342900" indent="-342900">
              <a:spcBef>
                <a:spcPts val="600"/>
              </a:spcBef>
              <a:spcAft>
                <a:spcPts val="600"/>
              </a:spcAft>
              <a:buFont typeface="Arial" panose="020B0604020202020204" pitchFamily="34" charset="0"/>
              <a:buChar char="•"/>
            </a:pPr>
            <a:r>
              <a:rPr lang="en-US" sz="2000" dirty="0">
                <a:latin typeface="Roboto"/>
                <a:ea typeface="Roboto"/>
                <a:cs typeface="Roboto"/>
              </a:rPr>
              <a:t>Produce and publish research and outputs that may inform the Panel’s work </a:t>
            </a:r>
          </a:p>
        </p:txBody>
      </p:sp>
      <p:sp>
        <p:nvSpPr>
          <p:cNvPr id="5" name="Rectangle 4">
            <a:extLst>
              <a:ext uri="{FF2B5EF4-FFF2-40B4-BE49-F238E27FC236}">
                <a16:creationId xmlns:a16="http://schemas.microsoft.com/office/drawing/2014/main" id="{FC03DCCB-2FBD-DCA0-3449-C989BE2AB023}"/>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endParaRPr kumimoji="0" lang="en-K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a:extLst>
              <a:ext uri="{FF2B5EF4-FFF2-40B4-BE49-F238E27FC236}">
                <a16:creationId xmlns:a16="http://schemas.microsoft.com/office/drawing/2014/main" id="{D5269F3F-71FD-77BB-4EDB-BACDA30B4A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90739" y="5401719"/>
            <a:ext cx="1078396" cy="1078396"/>
          </a:xfrm>
          <a:prstGeom prst="rect">
            <a:avLst/>
          </a:prstGeom>
        </p:spPr>
      </p:pic>
      <p:cxnSp>
        <p:nvCxnSpPr>
          <p:cNvPr id="8" name="Straight Connector 7">
            <a:extLst>
              <a:ext uri="{FF2B5EF4-FFF2-40B4-BE49-F238E27FC236}">
                <a16:creationId xmlns:a16="http://schemas.microsoft.com/office/drawing/2014/main" id="{F15A7B96-4A8B-B57F-77C3-83D8DC820D19}"/>
              </a:ext>
            </a:extLst>
          </p:cNvPr>
          <p:cNvCxnSpPr/>
          <p:nvPr/>
        </p:nvCxnSpPr>
        <p:spPr>
          <a:xfrm>
            <a:off x="-9940" y="119877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334156-8F76-3A41-00A8-A35F5402DD9E}"/>
              </a:ext>
            </a:extLst>
          </p:cNvPr>
          <p:cNvSpPr txBox="1"/>
          <p:nvPr/>
        </p:nvSpPr>
        <p:spPr>
          <a:xfrm>
            <a:off x="9796312" y="4123035"/>
            <a:ext cx="1672823"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
        <p:nvSpPr>
          <p:cNvPr id="7" name="TextBox 6">
            <a:extLst>
              <a:ext uri="{FF2B5EF4-FFF2-40B4-BE49-F238E27FC236}">
                <a16:creationId xmlns:a16="http://schemas.microsoft.com/office/drawing/2014/main" id="{0E48F036-F392-80F7-80A6-E8CE14C3EA31}"/>
              </a:ext>
            </a:extLst>
          </p:cNvPr>
          <p:cNvSpPr txBox="1"/>
          <p:nvPr/>
        </p:nvSpPr>
        <p:spPr>
          <a:xfrm>
            <a:off x="703506" y="1371114"/>
            <a:ext cx="7941712" cy="707886"/>
          </a:xfrm>
          <a:prstGeom prst="rect">
            <a:avLst/>
          </a:prstGeom>
          <a:noFill/>
        </p:spPr>
        <p:txBody>
          <a:bodyPr wrap="square" lIns="91440" tIns="45720" rIns="91440" bIns="45720" anchor="t">
            <a:spAutoFit/>
          </a:bodyPr>
          <a:lstStyle/>
          <a:p>
            <a:pPr marL="0" lvl="1">
              <a:defRPr/>
            </a:pPr>
            <a:r>
              <a:rPr lang="en-US" sz="2000" b="1" dirty="0">
                <a:solidFill>
                  <a:srgbClr val="00AEEF"/>
                </a:solidFill>
                <a:latin typeface="Roboto"/>
                <a:ea typeface="Roboto"/>
                <a:cs typeface="Roboto"/>
              </a:rPr>
              <a:t>Pending decisions by the initial session of the Plenary:</a:t>
            </a:r>
          </a:p>
          <a:p>
            <a:pPr marL="0" lvl="1">
              <a:defRPr/>
            </a:pPr>
            <a:endParaRPr lang="en-US" sz="2000" dirty="0"/>
          </a:p>
        </p:txBody>
      </p:sp>
    </p:spTree>
    <p:extLst>
      <p:ext uri="{BB962C8B-B14F-4D97-AF65-F5344CB8AC3E}">
        <p14:creationId xmlns:p14="http://schemas.microsoft.com/office/powerpoint/2010/main" val="1316323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6901D2-C375-2BB7-3D9D-4A9BF4B011E6}"/>
              </a:ext>
            </a:extLst>
          </p:cNvPr>
          <p:cNvSpPr txBox="1"/>
          <p:nvPr/>
        </p:nvSpPr>
        <p:spPr>
          <a:xfrm>
            <a:off x="454214" y="1070457"/>
            <a:ext cx="5069686" cy="4093428"/>
          </a:xfrm>
          <a:prstGeom prst="rect">
            <a:avLst/>
          </a:prstGeom>
          <a:noFill/>
        </p:spPr>
        <p:txBody>
          <a:bodyPr wrap="square" lIns="91440" tIns="45720" rIns="91440" bIns="45720" anchor="t">
            <a:spAutoFit/>
          </a:bodyPr>
          <a:lstStyle/>
          <a:p>
            <a:pPr marL="0" lvl="1">
              <a:defRPr/>
            </a:pPr>
            <a:r>
              <a:rPr lang="en-US" sz="2000" b="1" dirty="0">
                <a:solidFill>
                  <a:srgbClr val="00AEEF"/>
                </a:solidFill>
                <a:latin typeface="Roboto" panose="02000000000000000000" pitchFamily="2" charset="0"/>
                <a:ea typeface="Roboto" panose="02000000000000000000" pitchFamily="2" charset="0"/>
                <a:cs typeface="Roboto" panose="02000000000000000000" pitchFamily="2" charset="0"/>
              </a:rPr>
              <a:t>First session of the Plenary of the Intergovernmental Science-Policy Panel on Chemicals, Waste and Pollution</a:t>
            </a:r>
            <a:br>
              <a:rPr lang="en-US" sz="2000" b="1" dirty="0">
                <a:solidFill>
                  <a:srgbClr val="00AEEF"/>
                </a:solidFill>
                <a:latin typeface="Roboto" panose="02000000000000000000" pitchFamily="2" charset="0"/>
                <a:ea typeface="Roboto" panose="02000000000000000000" pitchFamily="2" charset="0"/>
                <a:cs typeface="Roboto" panose="02000000000000000000" pitchFamily="2" charset="0"/>
              </a:rPr>
            </a:br>
            <a:r>
              <a:rPr lang="en-US" sz="2000" b="1" dirty="0">
                <a:solidFill>
                  <a:srgbClr val="00AEEF"/>
                </a:solidFill>
                <a:latin typeface="Roboto" panose="02000000000000000000" pitchFamily="2" charset="0"/>
                <a:ea typeface="Roboto" panose="02000000000000000000" pitchFamily="2" charset="0"/>
                <a:cs typeface="Roboto" panose="02000000000000000000" pitchFamily="2" charset="0"/>
              </a:rPr>
              <a:t>(ISP-CWP P1)</a:t>
            </a:r>
          </a:p>
          <a:p>
            <a:pPr marL="0" lvl="1">
              <a:defRPr/>
            </a:pPr>
            <a:endParaRPr lang="en-US" sz="2000" b="1" dirty="0">
              <a:solidFill>
                <a:srgbClr val="00AEEF"/>
              </a:solidFill>
              <a:latin typeface="Roboto" panose="02000000000000000000" pitchFamily="2" charset="0"/>
              <a:ea typeface="Roboto" panose="02000000000000000000" pitchFamily="2" charset="0"/>
              <a:cs typeface="Roboto" panose="02000000000000000000" pitchFamily="2" charset="0"/>
            </a:endParaRPr>
          </a:p>
          <a:p>
            <a:pPr marL="0" lvl="1">
              <a:defRPr/>
            </a:pPr>
            <a:r>
              <a:rPr lang="en-US" sz="2000" b="1" dirty="0">
                <a:latin typeface="Roboto" panose="02000000000000000000" pitchFamily="2" charset="0"/>
                <a:ea typeface="Roboto" panose="02000000000000000000" pitchFamily="2" charset="0"/>
                <a:cs typeface="Roboto" panose="02000000000000000000" pitchFamily="2" charset="0"/>
              </a:rPr>
              <a:t>2–6 February 2026</a:t>
            </a:r>
          </a:p>
          <a:p>
            <a:pPr marL="0" lvl="1">
              <a:defRPr/>
            </a:pPr>
            <a:r>
              <a:rPr lang="en-US" sz="2000" dirty="0">
                <a:latin typeface="Roboto" panose="02000000000000000000" pitchFamily="2" charset="0"/>
                <a:ea typeface="Roboto" panose="02000000000000000000" pitchFamily="2" charset="0"/>
                <a:cs typeface="Roboto" panose="02000000000000000000" pitchFamily="2" charset="0"/>
              </a:rPr>
              <a:t>International Conference Centre Geneva (CICG),</a:t>
            </a:r>
          </a:p>
          <a:p>
            <a:pPr marL="0" lvl="1">
              <a:defRPr/>
            </a:pPr>
            <a:r>
              <a:rPr lang="en-US" sz="2000" dirty="0">
                <a:latin typeface="Roboto" panose="02000000000000000000" pitchFamily="2" charset="0"/>
                <a:ea typeface="Roboto" panose="02000000000000000000" pitchFamily="2" charset="0"/>
                <a:cs typeface="Roboto" panose="02000000000000000000" pitchFamily="2" charset="0"/>
              </a:rPr>
              <a:t>Geneva, Switzerland</a:t>
            </a:r>
          </a:p>
          <a:p>
            <a:pPr marL="0" lvl="1">
              <a:defRPr/>
            </a:pPr>
            <a:endParaRPr lang="en-US" sz="2000" dirty="0">
              <a:latin typeface="Roboto" panose="02000000000000000000" pitchFamily="2" charset="0"/>
              <a:ea typeface="Roboto" panose="02000000000000000000" pitchFamily="2" charset="0"/>
              <a:cs typeface="Roboto" panose="02000000000000000000" pitchFamily="2" charset="0"/>
            </a:endParaRPr>
          </a:p>
          <a:p>
            <a:pPr marL="0" lvl="1">
              <a:defRPr/>
            </a:pPr>
            <a:r>
              <a:rPr lang="en-US" sz="2000" b="1" dirty="0">
                <a:latin typeface="Roboto" panose="02000000000000000000" pitchFamily="2" charset="0"/>
                <a:ea typeface="Roboto" panose="02000000000000000000" pitchFamily="2" charset="0"/>
                <a:cs typeface="Roboto" panose="02000000000000000000" pitchFamily="2" charset="0"/>
              </a:rPr>
              <a:t>1 February 2026</a:t>
            </a:r>
            <a:br>
              <a:rPr lang="en-US" sz="2000" b="1" dirty="0">
                <a:latin typeface="Roboto" panose="02000000000000000000" pitchFamily="2" charset="0"/>
                <a:ea typeface="Roboto" panose="02000000000000000000" pitchFamily="2" charset="0"/>
                <a:cs typeface="Roboto" panose="02000000000000000000" pitchFamily="2" charset="0"/>
              </a:rPr>
            </a:br>
            <a:r>
              <a:rPr lang="en-US" sz="2000" dirty="0">
                <a:latin typeface="Roboto" panose="02000000000000000000" pitchFamily="2" charset="0"/>
                <a:ea typeface="Roboto" panose="02000000000000000000" pitchFamily="2" charset="0"/>
                <a:cs typeface="Roboto" panose="02000000000000000000" pitchFamily="2" charset="0"/>
              </a:rPr>
              <a:t>Regional and stakeholder meetings</a:t>
            </a:r>
          </a:p>
          <a:p>
            <a:pPr marL="0" lvl="1">
              <a:defRPr/>
            </a:pPr>
            <a:endParaRPr lang="en-US" sz="2000" dirty="0">
              <a:latin typeface="Roboto" panose="02000000000000000000" pitchFamily="2" charset="0"/>
              <a:ea typeface="Roboto" panose="02000000000000000000" pitchFamily="2" charset="0"/>
              <a:cs typeface="Roboto" panose="02000000000000000000" pitchFamily="2" charset="0"/>
            </a:endParaRPr>
          </a:p>
        </p:txBody>
      </p:sp>
      <p:pic>
        <p:nvPicPr>
          <p:cNvPr id="4" name="Picture 3" descr="A building with cars parked on the side of the road&#10;&#10;Description automatically generated">
            <a:extLst>
              <a:ext uri="{FF2B5EF4-FFF2-40B4-BE49-F238E27FC236}">
                <a16:creationId xmlns:a16="http://schemas.microsoft.com/office/drawing/2014/main" id="{909BE19B-2C63-3AF1-411B-E5FF5B1108C6}"/>
              </a:ext>
            </a:extLst>
          </p:cNvPr>
          <p:cNvPicPr>
            <a:picLocks noChangeAspect="1"/>
          </p:cNvPicPr>
          <p:nvPr/>
        </p:nvPicPr>
        <p:blipFill>
          <a:blip r:embed="rId2"/>
          <a:stretch>
            <a:fillRect/>
          </a:stretch>
        </p:blipFill>
        <p:spPr>
          <a:xfrm>
            <a:off x="5523900" y="1070457"/>
            <a:ext cx="5659465" cy="4315136"/>
          </a:xfrm>
          <a:prstGeom prst="rect">
            <a:avLst/>
          </a:prstGeom>
        </p:spPr>
      </p:pic>
      <p:sp>
        <p:nvSpPr>
          <p:cNvPr id="2" name="TextBox 1">
            <a:extLst>
              <a:ext uri="{FF2B5EF4-FFF2-40B4-BE49-F238E27FC236}">
                <a16:creationId xmlns:a16="http://schemas.microsoft.com/office/drawing/2014/main" id="{C41C819F-688A-12E7-9262-B3F97D998F13}"/>
              </a:ext>
            </a:extLst>
          </p:cNvPr>
          <p:cNvSpPr txBox="1"/>
          <p:nvPr/>
        </p:nvSpPr>
        <p:spPr>
          <a:xfrm>
            <a:off x="5523900" y="5552367"/>
            <a:ext cx="7957565" cy="646331"/>
          </a:xfrm>
          <a:prstGeom prst="rect">
            <a:avLst/>
          </a:prstGeom>
          <a:noFill/>
        </p:spPr>
        <p:txBody>
          <a:bodyPr wrap="square" rtlCol="0">
            <a:spAutoFit/>
          </a:bodyPr>
          <a:lstStyle/>
          <a:p>
            <a:r>
              <a:rPr lang="en-US" dirty="0">
                <a:latin typeface="Roboto" panose="02000000000000000000" pitchFamily="2" charset="0"/>
                <a:ea typeface="Roboto" panose="02000000000000000000" pitchFamily="2" charset="0"/>
                <a:cs typeface="Roboto" panose="02000000000000000000" pitchFamily="2" charset="0"/>
              </a:rPr>
              <a:t>Access event website at: unep.org/isp-cwp/plenary</a:t>
            </a:r>
          </a:p>
          <a:p>
            <a:r>
              <a:rPr lang="en-US" dirty="0">
                <a:latin typeface="Roboto" panose="02000000000000000000" pitchFamily="2" charset="0"/>
                <a:ea typeface="Roboto" panose="02000000000000000000" pitchFamily="2" charset="0"/>
                <a:cs typeface="Roboto" panose="02000000000000000000" pitchFamily="2" charset="0"/>
              </a:rPr>
              <a:t>Questions? Contact us at: </a:t>
            </a:r>
            <a:r>
              <a:rPr lang="en-US" dirty="0">
                <a:latin typeface="Roboto" panose="02000000000000000000" pitchFamily="2" charset="0"/>
                <a:ea typeface="Roboto" panose="02000000000000000000" pitchFamily="2" charset="0"/>
                <a:cs typeface="Roboto" panose="02000000000000000000" pitchFamily="2" charset="0"/>
                <a:hlinkClick r:id="rId3"/>
              </a:rPr>
              <a:t>isp-cwp@un.org</a:t>
            </a:r>
            <a:endParaRPr lang="en-US"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87335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45B48-C2E1-AEC3-15E6-2D60D4EBD4D1}"/>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2AAAF00-08D3-0B9A-4E7D-C825516A24CD}"/>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3D8E361E-3ED1-80A7-23A8-ABC9CD21F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24BA89A6-C268-ACCD-1BEA-EC7882D086E7}"/>
              </a:ext>
            </a:extLst>
          </p:cNvPr>
          <p:cNvSpPr txBox="1"/>
          <p:nvPr/>
        </p:nvSpPr>
        <p:spPr>
          <a:xfrm>
            <a:off x="1003299" y="486196"/>
            <a:ext cx="7697356" cy="584775"/>
          </a:xfrm>
          <a:prstGeom prst="rect">
            <a:avLst/>
          </a:prstGeom>
          <a:noFill/>
        </p:spPr>
        <p:txBody>
          <a:bodyPr wrap="square" lIns="91440" tIns="45720" rIns="91440" bIns="45720" anchor="t">
            <a:spAutoFit/>
          </a:bodyPr>
          <a:lstStyle/>
          <a:p>
            <a:pPr marL="0" lvl="1"/>
            <a:r>
              <a:rPr lang="en-US" sz="3200" b="1" dirty="0">
                <a:solidFill>
                  <a:srgbClr val="00AEEF"/>
                </a:solidFill>
                <a:latin typeface="Roboto"/>
                <a:ea typeface="Roboto"/>
                <a:cs typeface="Roboto"/>
              </a:rPr>
              <a:t>ISP-CWP P1: Provisional agenda </a:t>
            </a:r>
          </a:p>
        </p:txBody>
      </p:sp>
      <p:sp>
        <p:nvSpPr>
          <p:cNvPr id="8" name="TextBox 7">
            <a:extLst>
              <a:ext uri="{FF2B5EF4-FFF2-40B4-BE49-F238E27FC236}">
                <a16:creationId xmlns:a16="http://schemas.microsoft.com/office/drawing/2014/main" id="{ADCA4C59-25D3-6853-7A3E-5624B04ED9F5}"/>
              </a:ext>
            </a:extLst>
          </p:cNvPr>
          <p:cNvSpPr txBox="1"/>
          <p:nvPr/>
        </p:nvSpPr>
        <p:spPr>
          <a:xfrm>
            <a:off x="1003299" y="1486469"/>
            <a:ext cx="7941712" cy="338554"/>
          </a:xfrm>
          <a:prstGeom prst="rect">
            <a:avLst/>
          </a:prstGeom>
          <a:noFill/>
        </p:spPr>
        <p:txBody>
          <a:bodyPr wrap="square" lIns="91440" tIns="45720" rIns="91440" bIns="45720" anchor="t">
            <a:spAutoFit/>
          </a:bodyPr>
          <a:lstStyle/>
          <a:p>
            <a:pPr marL="0" lvl="1">
              <a:defRPr/>
            </a:pPr>
            <a:r>
              <a:rPr lang="en-US" sz="1600" b="1">
                <a:solidFill>
                  <a:srgbClr val="00AEEF"/>
                </a:solidFill>
                <a:latin typeface="Roboto"/>
                <a:ea typeface="Roboto"/>
                <a:cs typeface="Roboto"/>
              </a:rPr>
              <a:t>UNEP/ISP-CWP.1/1</a:t>
            </a:r>
            <a:endParaRPr lang="en-US"/>
          </a:p>
        </p:txBody>
      </p:sp>
      <p:sp>
        <p:nvSpPr>
          <p:cNvPr id="9" name="TextBox 8">
            <a:extLst>
              <a:ext uri="{FF2B5EF4-FFF2-40B4-BE49-F238E27FC236}">
                <a16:creationId xmlns:a16="http://schemas.microsoft.com/office/drawing/2014/main" id="{861C3777-2A1A-FF7C-4F61-6C90DD47D518}"/>
              </a:ext>
            </a:extLst>
          </p:cNvPr>
          <p:cNvSpPr txBox="1"/>
          <p:nvPr/>
        </p:nvSpPr>
        <p:spPr>
          <a:xfrm>
            <a:off x="929739" y="1563360"/>
            <a:ext cx="8738135" cy="5119350"/>
          </a:xfrm>
          <a:prstGeom prst="rect">
            <a:avLst/>
          </a:prstGeom>
          <a:noFill/>
        </p:spPr>
        <p:txBody>
          <a:bodyPr wrap="square" lIns="91440" tIns="45720" rIns="91440" bIns="45720" numCol="1" anchor="t">
            <a:spAutoFit/>
          </a:bodyPr>
          <a:lstStyle/>
          <a:p>
            <a:pPr marL="73660" lvl="1" algn="l" defTabSz="914400">
              <a:lnSpc>
                <a:spcPct val="150000"/>
              </a:lnSpc>
              <a:spcBef>
                <a:spcPts val="0"/>
              </a:spcBef>
              <a:spcAft>
                <a:spcPts val="0"/>
              </a:spcAft>
              <a:buClrTx/>
              <a:buSzTx/>
              <a:tabLst/>
              <a:defRPr/>
            </a:pPr>
            <a:endParaRPr lang="en-US" sz="2000" dirty="0">
              <a:solidFill>
                <a:schemeClr val="tx1"/>
              </a:solidFill>
              <a:latin typeface="Roboto" panose="02000000000000000000" pitchFamily="2" charset="0"/>
              <a:ea typeface="Roboto" panose="02000000000000000000" pitchFamily="2" charset="0"/>
              <a:cs typeface="Roboto"/>
            </a:endParaRPr>
          </a:p>
          <a:p>
            <a:pPr marL="530860" lvl="1" indent="-457200">
              <a:lnSpc>
                <a:spcPct val="150000"/>
              </a:lnSpc>
              <a:buFont typeface="+mj-lt"/>
              <a:buAutoNum type="arabicPeriod"/>
              <a:defRPr/>
            </a:pPr>
            <a:r>
              <a:rPr lang="en-US" sz="2000" dirty="0">
                <a:latin typeface="Roboto"/>
                <a:ea typeface="Roboto"/>
                <a:cs typeface="Roboto"/>
              </a:rPr>
              <a:t>Opening of the session </a:t>
            </a:r>
          </a:p>
          <a:p>
            <a:pPr marL="530860" lvl="1" indent="-457200">
              <a:lnSpc>
                <a:spcPct val="150000"/>
              </a:lnSpc>
              <a:buFont typeface="+mj-lt"/>
              <a:buAutoNum type="arabicPeriod"/>
              <a:defRPr/>
            </a:pPr>
            <a:r>
              <a:rPr lang="en-US" sz="2000" dirty="0">
                <a:latin typeface="Roboto"/>
                <a:ea typeface="Roboto"/>
                <a:cs typeface="Roboto"/>
              </a:rPr>
              <a:t>Organizational matters </a:t>
            </a:r>
          </a:p>
          <a:p>
            <a:pPr marL="530860" lvl="1" indent="-457200">
              <a:lnSpc>
                <a:spcPct val="150000"/>
              </a:lnSpc>
              <a:buFont typeface="+mj-lt"/>
              <a:buAutoNum type="arabicPeriod"/>
              <a:defRPr/>
            </a:pPr>
            <a:r>
              <a:rPr lang="en-US" sz="2000" dirty="0">
                <a:latin typeface="Roboto"/>
                <a:ea typeface="Roboto"/>
                <a:cs typeface="Roboto"/>
              </a:rPr>
              <a:t>Credentials of representatives </a:t>
            </a:r>
          </a:p>
          <a:p>
            <a:pPr marL="530860" lvl="1" indent="-457200">
              <a:lnSpc>
                <a:spcPct val="150000"/>
              </a:lnSpc>
              <a:buFont typeface="+mj-lt"/>
              <a:buAutoNum type="arabicPeriod"/>
              <a:defRPr/>
            </a:pPr>
            <a:r>
              <a:rPr lang="en-US" sz="2000" dirty="0">
                <a:latin typeface="Roboto"/>
                <a:ea typeface="Roboto"/>
                <a:cs typeface="Roboto"/>
              </a:rPr>
              <a:t>Report on activities of the interim secretariat </a:t>
            </a:r>
          </a:p>
          <a:p>
            <a:pPr marL="530860" lvl="1" indent="-457200">
              <a:lnSpc>
                <a:spcPct val="150000"/>
              </a:lnSpc>
              <a:buFont typeface="+mj-lt"/>
              <a:buAutoNum type="arabicPeriod"/>
              <a:defRPr/>
            </a:pPr>
            <a:r>
              <a:rPr lang="en-US" sz="2000" dirty="0">
                <a:latin typeface="Roboto"/>
                <a:ea typeface="Roboto"/>
                <a:cs typeface="Roboto"/>
              </a:rPr>
              <a:t>Operational arrangements of the Panel </a:t>
            </a:r>
          </a:p>
          <a:p>
            <a:pPr marL="530860" lvl="1" indent="-457200">
              <a:lnSpc>
                <a:spcPct val="150000"/>
              </a:lnSpc>
              <a:buFont typeface="+mj-lt"/>
              <a:buAutoNum type="arabicPeriod"/>
              <a:defRPr/>
            </a:pPr>
            <a:r>
              <a:rPr lang="en-US" sz="2000" dirty="0">
                <a:latin typeface="Roboto"/>
                <a:ea typeface="Roboto"/>
                <a:cs typeface="Roboto"/>
              </a:rPr>
              <a:t>Financial and budgetary arrangements of the Panel </a:t>
            </a:r>
          </a:p>
          <a:p>
            <a:pPr marL="530860" lvl="1" indent="-457200">
              <a:lnSpc>
                <a:spcPct val="150000"/>
              </a:lnSpc>
              <a:buFont typeface="+mj-lt"/>
              <a:buAutoNum type="arabicPeriod"/>
              <a:defRPr/>
            </a:pPr>
            <a:r>
              <a:rPr lang="en-US" sz="2000" dirty="0">
                <a:latin typeface="Roboto"/>
                <a:ea typeface="Roboto"/>
                <a:cs typeface="Roboto"/>
              </a:rPr>
              <a:t>Provisional agenda, dates and venue of the next session of the Plenary.</a:t>
            </a:r>
          </a:p>
          <a:p>
            <a:pPr marL="530860" lvl="1" indent="-457200">
              <a:lnSpc>
                <a:spcPct val="150000"/>
              </a:lnSpc>
              <a:buFont typeface="+mj-lt"/>
              <a:buAutoNum type="arabicPeriod"/>
              <a:defRPr/>
            </a:pPr>
            <a:r>
              <a:rPr lang="en-US" sz="2000" dirty="0">
                <a:latin typeface="Roboto"/>
                <a:ea typeface="Roboto"/>
                <a:cs typeface="Roboto"/>
              </a:rPr>
              <a:t>Adoption of decisions and the report of the session</a:t>
            </a:r>
          </a:p>
          <a:p>
            <a:pPr marL="530860" lvl="1" indent="-457200">
              <a:lnSpc>
                <a:spcPct val="150000"/>
              </a:lnSpc>
              <a:buFont typeface="+mj-lt"/>
              <a:buAutoNum type="arabicPeriod"/>
              <a:defRPr/>
            </a:pPr>
            <a:r>
              <a:rPr lang="en-US" sz="2000" dirty="0">
                <a:latin typeface="Roboto"/>
                <a:ea typeface="Roboto"/>
                <a:cs typeface="Roboto"/>
              </a:rPr>
              <a:t>Any other matters</a:t>
            </a:r>
          </a:p>
          <a:p>
            <a:pPr marL="530860" lvl="1" indent="-457200">
              <a:lnSpc>
                <a:spcPct val="150000"/>
              </a:lnSpc>
              <a:buFont typeface="+mj-lt"/>
              <a:buAutoNum type="arabicPeriod"/>
              <a:defRPr/>
            </a:pPr>
            <a:r>
              <a:rPr lang="en-US" sz="2000" dirty="0">
                <a:latin typeface="Roboto"/>
                <a:ea typeface="Roboto"/>
                <a:cs typeface="Roboto"/>
              </a:rPr>
              <a:t>Closure of the session </a:t>
            </a:r>
          </a:p>
        </p:txBody>
      </p:sp>
      <p:cxnSp>
        <p:nvCxnSpPr>
          <p:cNvPr id="10" name="Straight Connector 9">
            <a:extLst>
              <a:ext uri="{FF2B5EF4-FFF2-40B4-BE49-F238E27FC236}">
                <a16:creationId xmlns:a16="http://schemas.microsoft.com/office/drawing/2014/main" id="{FDAEB8E9-2423-09F8-1476-FADC611FE6DB}"/>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C64954-2837-9C02-66DA-FC37D73D0E16}"/>
              </a:ext>
            </a:extLst>
          </p:cNvPr>
          <p:cNvSpPr txBox="1"/>
          <p:nvPr/>
        </p:nvSpPr>
        <p:spPr>
          <a:xfrm>
            <a:off x="9796312" y="4123035"/>
            <a:ext cx="1672823"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2165522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30FD1-BD2F-6882-CD20-BFBDE0B03C2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F637D4E7-7857-3C7B-1A10-87E815F80181}"/>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2B22C21E-519C-7B4F-AB7A-D1F4097498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387C822E-8877-FEF0-19B8-1B5EE89CF044}"/>
              </a:ext>
            </a:extLst>
          </p:cNvPr>
          <p:cNvSpPr txBox="1"/>
          <p:nvPr/>
        </p:nvSpPr>
        <p:spPr>
          <a:xfrm>
            <a:off x="1003298" y="486196"/>
            <a:ext cx="8561325" cy="584775"/>
          </a:xfrm>
          <a:prstGeom prst="rect">
            <a:avLst/>
          </a:prstGeom>
          <a:noFill/>
        </p:spPr>
        <p:txBody>
          <a:bodyPr wrap="square" lIns="91440" tIns="45720" rIns="91440" bIns="45720" anchor="t">
            <a:spAutoFit/>
          </a:bodyPr>
          <a:lstStyle/>
          <a:p>
            <a:pPr marL="0" lvl="1"/>
            <a:r>
              <a:rPr lang="en-US" sz="3200" b="1" dirty="0">
                <a:solidFill>
                  <a:srgbClr val="00AEEF"/>
                </a:solidFill>
                <a:latin typeface="Roboto"/>
                <a:ea typeface="Roboto"/>
                <a:cs typeface="Roboto"/>
              </a:rPr>
              <a:t>Scenario note: Guide to ISP-CWP Plenary 1 </a:t>
            </a:r>
          </a:p>
        </p:txBody>
      </p:sp>
      <p:sp>
        <p:nvSpPr>
          <p:cNvPr id="8" name="TextBox 7">
            <a:extLst>
              <a:ext uri="{FF2B5EF4-FFF2-40B4-BE49-F238E27FC236}">
                <a16:creationId xmlns:a16="http://schemas.microsoft.com/office/drawing/2014/main" id="{D58E8090-4892-76F3-FD72-8E8F6EC8657B}"/>
              </a:ext>
            </a:extLst>
          </p:cNvPr>
          <p:cNvSpPr txBox="1"/>
          <p:nvPr/>
        </p:nvSpPr>
        <p:spPr>
          <a:xfrm>
            <a:off x="1030731" y="1486469"/>
            <a:ext cx="7941712" cy="338554"/>
          </a:xfrm>
          <a:prstGeom prst="rect">
            <a:avLst/>
          </a:prstGeom>
          <a:noFill/>
        </p:spPr>
        <p:txBody>
          <a:bodyPr wrap="square" lIns="91440" tIns="45720" rIns="91440" bIns="45720" anchor="t">
            <a:spAutoFit/>
          </a:bodyPr>
          <a:lstStyle/>
          <a:p>
            <a:pPr marL="0" lvl="1">
              <a:defRPr/>
            </a:pPr>
            <a:r>
              <a:rPr lang="en-US" sz="1600" b="1" dirty="0">
                <a:solidFill>
                  <a:srgbClr val="00AEEF"/>
                </a:solidFill>
                <a:latin typeface="Roboto"/>
                <a:ea typeface="Roboto"/>
                <a:cs typeface="Roboto"/>
              </a:rPr>
              <a:t>UNEP/ISP-CWP.1/INF1</a:t>
            </a:r>
            <a:endParaRPr lang="en-US" dirty="0"/>
          </a:p>
        </p:txBody>
      </p:sp>
      <p:sp>
        <p:nvSpPr>
          <p:cNvPr id="9" name="TextBox 8">
            <a:extLst>
              <a:ext uri="{FF2B5EF4-FFF2-40B4-BE49-F238E27FC236}">
                <a16:creationId xmlns:a16="http://schemas.microsoft.com/office/drawing/2014/main" id="{F90CB56D-0635-15F9-6F17-BB08982CF807}"/>
              </a:ext>
            </a:extLst>
          </p:cNvPr>
          <p:cNvSpPr txBox="1"/>
          <p:nvPr/>
        </p:nvSpPr>
        <p:spPr>
          <a:xfrm>
            <a:off x="929739" y="1563360"/>
            <a:ext cx="8738135" cy="5196294"/>
          </a:xfrm>
          <a:prstGeom prst="rect">
            <a:avLst/>
          </a:prstGeom>
          <a:noFill/>
        </p:spPr>
        <p:txBody>
          <a:bodyPr wrap="square" lIns="91440" tIns="45720" rIns="91440" bIns="45720" numCol="1" anchor="t">
            <a:spAutoFit/>
          </a:bodyPr>
          <a:lstStyle/>
          <a:p>
            <a:pPr marL="73660" lvl="1" algn="l" defTabSz="914400">
              <a:lnSpc>
                <a:spcPct val="150000"/>
              </a:lnSpc>
              <a:spcBef>
                <a:spcPts val="0"/>
              </a:spcBef>
              <a:spcAft>
                <a:spcPts val="0"/>
              </a:spcAft>
              <a:buClrTx/>
              <a:buSzTx/>
              <a:tabLst/>
              <a:defRPr/>
            </a:pPr>
            <a:endParaRPr lang="en-US" sz="2000" dirty="0">
              <a:solidFill>
                <a:schemeClr val="tx1"/>
              </a:solidFill>
              <a:latin typeface="Roboto" panose="02000000000000000000" pitchFamily="2" charset="0"/>
              <a:ea typeface="Roboto" panose="02000000000000000000" pitchFamily="2" charset="0"/>
              <a:cs typeface="Roboto"/>
            </a:endParaRPr>
          </a:p>
          <a:p>
            <a:pPr marL="73660" lvl="1">
              <a:lnSpc>
                <a:spcPct val="150000"/>
              </a:lnSpc>
              <a:spcAft>
                <a:spcPts val="600"/>
              </a:spcAft>
              <a:defRPr/>
            </a:pPr>
            <a:r>
              <a:rPr lang="en-US" sz="2000" dirty="0">
                <a:latin typeface="Roboto"/>
                <a:ea typeface="Roboto"/>
                <a:cs typeface="Roboto"/>
              </a:rPr>
              <a:t>Background and context: Recap of decision by Intergovernmental Meeting:</a:t>
            </a:r>
          </a:p>
          <a:p>
            <a:pPr marL="530860" lvl="1" indent="-457200">
              <a:lnSpc>
                <a:spcPct val="150000"/>
              </a:lnSpc>
              <a:buFont typeface="+mj-lt"/>
              <a:buAutoNum type="arabicPeriod"/>
              <a:defRPr/>
            </a:pPr>
            <a:r>
              <a:rPr lang="en-US" sz="2000" b="1" dirty="0">
                <a:latin typeface="Roboto"/>
                <a:ea typeface="Roboto"/>
                <a:cs typeface="Roboto"/>
              </a:rPr>
              <a:t>Foundational document </a:t>
            </a:r>
            <a:r>
              <a:rPr lang="en-US" sz="2000" dirty="0">
                <a:latin typeface="Roboto"/>
                <a:ea typeface="Roboto"/>
                <a:cs typeface="Roboto"/>
              </a:rPr>
              <a:t>of the Panel: set out in the annex to decision IM/1, on the establishment of the ISP-CWP, adopted at the IM.</a:t>
            </a:r>
          </a:p>
          <a:p>
            <a:pPr marL="530860" lvl="1" indent="-457200">
              <a:lnSpc>
                <a:spcPct val="150000"/>
              </a:lnSpc>
              <a:buFont typeface="+mj-lt"/>
              <a:buAutoNum type="arabicPeriod"/>
              <a:defRPr/>
            </a:pPr>
            <a:r>
              <a:rPr lang="en-US" sz="2000" dirty="0">
                <a:latin typeface="Roboto"/>
                <a:ea typeface="Roboto"/>
                <a:cs typeface="Roboto"/>
              </a:rPr>
              <a:t>In decision IM/2, on recommendations for consideration by the Plenary at its first session, the intergovernmental meeting (1) recommended </a:t>
            </a:r>
            <a:r>
              <a:rPr lang="en-US" sz="2000" b="1" dirty="0">
                <a:latin typeface="Roboto"/>
                <a:ea typeface="Roboto"/>
                <a:cs typeface="Roboto"/>
              </a:rPr>
              <a:t>draft rules of procedure </a:t>
            </a:r>
            <a:r>
              <a:rPr lang="en-US" sz="2000" dirty="0">
                <a:latin typeface="Roboto"/>
                <a:ea typeface="Roboto"/>
                <a:cs typeface="Roboto"/>
              </a:rPr>
              <a:t>set out in annex I for consideration and possible adoption by the first Plenary session, and (2) transmitted </a:t>
            </a:r>
            <a:r>
              <a:rPr lang="en-US" sz="2000" b="1" dirty="0">
                <a:latin typeface="Roboto"/>
                <a:ea typeface="Roboto"/>
                <a:cs typeface="Roboto"/>
              </a:rPr>
              <a:t>other documents </a:t>
            </a:r>
            <a:r>
              <a:rPr lang="en-US" sz="2000" dirty="0">
                <a:latin typeface="Roboto"/>
                <a:ea typeface="Roboto"/>
                <a:cs typeface="Roboto"/>
              </a:rPr>
              <a:t>in annexes II–IV for further consideration by P1.</a:t>
            </a:r>
          </a:p>
          <a:p>
            <a:pPr marL="530860" lvl="1" indent="-457200">
              <a:lnSpc>
                <a:spcPct val="150000"/>
              </a:lnSpc>
              <a:buFont typeface="+mj-lt"/>
              <a:buAutoNum type="arabicPeriod"/>
              <a:defRPr/>
            </a:pPr>
            <a:r>
              <a:rPr lang="en-US" sz="2000" dirty="0">
                <a:latin typeface="Roboto"/>
                <a:ea typeface="Roboto"/>
                <a:cs typeface="Roboto"/>
              </a:rPr>
              <a:t>In decision IM/3, on arrangements for the interim period, UNEP’s Executive Director was requested to provide the </a:t>
            </a:r>
            <a:r>
              <a:rPr lang="en-US" sz="2000" b="1" dirty="0">
                <a:latin typeface="Roboto"/>
                <a:ea typeface="Roboto"/>
                <a:cs typeface="Roboto"/>
              </a:rPr>
              <a:t>interim secretariat</a:t>
            </a:r>
          </a:p>
        </p:txBody>
      </p:sp>
      <p:cxnSp>
        <p:nvCxnSpPr>
          <p:cNvPr id="10" name="Straight Connector 9">
            <a:extLst>
              <a:ext uri="{FF2B5EF4-FFF2-40B4-BE49-F238E27FC236}">
                <a16:creationId xmlns:a16="http://schemas.microsoft.com/office/drawing/2014/main" id="{02D06BC9-3529-07E0-2DEC-25A4701965B8}"/>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CF477E0-C640-E827-5031-E77B35983B1F}"/>
              </a:ext>
            </a:extLst>
          </p:cNvPr>
          <p:cNvSpPr txBox="1"/>
          <p:nvPr/>
        </p:nvSpPr>
        <p:spPr>
          <a:xfrm>
            <a:off x="9796312" y="4123035"/>
            <a:ext cx="1672823"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9671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D225A-E347-A379-6C02-E70B7CD15AC4}"/>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0C478DA9-763A-A06A-F55D-5628977D2CC1}"/>
              </a:ext>
            </a:extLst>
          </p:cNvPr>
          <p:cNvSpPr/>
          <p:nvPr/>
        </p:nvSpPr>
        <p:spPr>
          <a:xfrm>
            <a:off x="9667875" y="0"/>
            <a:ext cx="2524125" cy="6858000"/>
          </a:xfrm>
          <a:prstGeom prst="rect">
            <a:avLst/>
          </a:prstGeom>
          <a:gradFill>
            <a:gsLst>
              <a:gs pos="100000">
                <a:srgbClr val="00759E"/>
              </a:gs>
              <a:gs pos="0">
                <a:srgbClr val="00AEEF"/>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KE"/>
          </a:p>
        </p:txBody>
      </p:sp>
      <p:pic>
        <p:nvPicPr>
          <p:cNvPr id="17" name="Graphic 16">
            <a:extLst>
              <a:ext uri="{FF2B5EF4-FFF2-40B4-BE49-F238E27FC236}">
                <a16:creationId xmlns:a16="http://schemas.microsoft.com/office/drawing/2014/main" id="{F268B55C-A54A-C533-77A7-1BBBB11A2F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90739" y="5401719"/>
            <a:ext cx="1078396" cy="1078396"/>
          </a:xfrm>
          <a:prstGeom prst="rect">
            <a:avLst/>
          </a:prstGeom>
        </p:spPr>
      </p:pic>
      <p:sp>
        <p:nvSpPr>
          <p:cNvPr id="2" name="TextBox 1">
            <a:extLst>
              <a:ext uri="{FF2B5EF4-FFF2-40B4-BE49-F238E27FC236}">
                <a16:creationId xmlns:a16="http://schemas.microsoft.com/office/drawing/2014/main" id="{0F86C64A-D111-1C3C-0FCD-7DDCB2A7584F}"/>
              </a:ext>
            </a:extLst>
          </p:cNvPr>
          <p:cNvSpPr txBox="1"/>
          <p:nvPr/>
        </p:nvSpPr>
        <p:spPr>
          <a:xfrm>
            <a:off x="1003299" y="486196"/>
            <a:ext cx="7697356" cy="584775"/>
          </a:xfrm>
          <a:prstGeom prst="rect">
            <a:avLst/>
          </a:prstGeom>
          <a:noFill/>
        </p:spPr>
        <p:txBody>
          <a:bodyPr wrap="square" lIns="91440" tIns="45720" rIns="91440" bIns="45720" anchor="t">
            <a:spAutoFit/>
          </a:bodyPr>
          <a:lstStyle/>
          <a:p>
            <a:pPr marL="0" lvl="1"/>
            <a:r>
              <a:rPr lang="en-US" sz="3200" b="1" dirty="0">
                <a:solidFill>
                  <a:srgbClr val="00AEEF"/>
                </a:solidFill>
                <a:latin typeface="Roboto"/>
                <a:ea typeface="Roboto"/>
                <a:cs typeface="Roboto"/>
              </a:rPr>
              <a:t>Expected outcomes ISP-CWP Plenary 1 </a:t>
            </a:r>
          </a:p>
        </p:txBody>
      </p:sp>
      <p:sp>
        <p:nvSpPr>
          <p:cNvPr id="8" name="TextBox 7">
            <a:extLst>
              <a:ext uri="{FF2B5EF4-FFF2-40B4-BE49-F238E27FC236}">
                <a16:creationId xmlns:a16="http://schemas.microsoft.com/office/drawing/2014/main" id="{35021571-B469-CFD7-1FB1-DA39F9B7873C}"/>
              </a:ext>
            </a:extLst>
          </p:cNvPr>
          <p:cNvSpPr txBox="1"/>
          <p:nvPr/>
        </p:nvSpPr>
        <p:spPr>
          <a:xfrm>
            <a:off x="1030731" y="1486469"/>
            <a:ext cx="7941712" cy="338554"/>
          </a:xfrm>
          <a:prstGeom prst="rect">
            <a:avLst/>
          </a:prstGeom>
          <a:noFill/>
        </p:spPr>
        <p:txBody>
          <a:bodyPr wrap="square" lIns="91440" tIns="45720" rIns="91440" bIns="45720" anchor="t">
            <a:spAutoFit/>
          </a:bodyPr>
          <a:lstStyle/>
          <a:p>
            <a:pPr marL="0" lvl="1">
              <a:defRPr/>
            </a:pPr>
            <a:r>
              <a:rPr lang="en-US" sz="1600" b="1" dirty="0">
                <a:solidFill>
                  <a:srgbClr val="00AEEF"/>
                </a:solidFill>
                <a:latin typeface="Roboto"/>
                <a:ea typeface="Roboto"/>
                <a:cs typeface="Roboto"/>
              </a:rPr>
              <a:t>UNEP/ISP-CWP.1/INF1</a:t>
            </a:r>
            <a:endParaRPr lang="en-US" dirty="0"/>
          </a:p>
        </p:txBody>
      </p:sp>
      <p:sp>
        <p:nvSpPr>
          <p:cNvPr id="9" name="TextBox 8">
            <a:extLst>
              <a:ext uri="{FF2B5EF4-FFF2-40B4-BE49-F238E27FC236}">
                <a16:creationId xmlns:a16="http://schemas.microsoft.com/office/drawing/2014/main" id="{FB3EF88E-CAFE-B206-4579-E398DBCD08A9}"/>
              </a:ext>
            </a:extLst>
          </p:cNvPr>
          <p:cNvSpPr txBox="1"/>
          <p:nvPr/>
        </p:nvSpPr>
        <p:spPr>
          <a:xfrm>
            <a:off x="865521" y="1727952"/>
            <a:ext cx="8930791" cy="5114221"/>
          </a:xfrm>
          <a:prstGeom prst="rect">
            <a:avLst/>
          </a:prstGeom>
          <a:noFill/>
        </p:spPr>
        <p:txBody>
          <a:bodyPr wrap="square" lIns="91440" tIns="45720" rIns="91440" bIns="45720" numCol="1" anchor="t">
            <a:spAutoFit/>
          </a:bodyPr>
          <a:lstStyle/>
          <a:p>
            <a:pPr marL="73660" lvl="1" algn="l" defTabSz="914400">
              <a:spcBef>
                <a:spcPts val="0"/>
              </a:spcBef>
              <a:spcAft>
                <a:spcPts val="0"/>
              </a:spcAft>
              <a:buClrTx/>
              <a:buSzTx/>
              <a:tabLst/>
              <a:defRPr/>
            </a:pPr>
            <a:endParaRPr lang="en-US" sz="1900" dirty="0">
              <a:solidFill>
                <a:schemeClr val="tx1"/>
              </a:solidFill>
              <a:latin typeface="Roboto" panose="02000000000000000000" pitchFamily="2" charset="0"/>
              <a:ea typeface="Roboto" panose="02000000000000000000" pitchFamily="2" charset="0"/>
              <a:cs typeface="Roboto"/>
            </a:endParaRPr>
          </a:p>
          <a:p>
            <a:pPr marL="73660" lvl="1">
              <a:lnSpc>
                <a:spcPct val="150000"/>
              </a:lnSpc>
              <a:defRPr/>
            </a:pPr>
            <a:r>
              <a:rPr lang="en-US" sz="1900" dirty="0">
                <a:latin typeface="Roboto"/>
                <a:ea typeface="Roboto"/>
                <a:cs typeface="Roboto"/>
              </a:rPr>
              <a:t>Expectations include that by the closure the first Plenary session will have:</a:t>
            </a:r>
          </a:p>
          <a:p>
            <a:pPr marL="530860" lvl="1" indent="-457200">
              <a:lnSpc>
                <a:spcPct val="150000"/>
              </a:lnSpc>
              <a:buFont typeface="+mj-lt"/>
              <a:buAutoNum type="alphaLcParenR"/>
              <a:defRPr/>
            </a:pPr>
            <a:r>
              <a:rPr lang="en-US" sz="1900" dirty="0">
                <a:latin typeface="Roboto"/>
                <a:ea typeface="Roboto"/>
                <a:cs typeface="Roboto"/>
              </a:rPr>
              <a:t>Elected the Chair and the first Bureau of the Panel;</a:t>
            </a:r>
          </a:p>
          <a:p>
            <a:pPr marL="530860" lvl="1" indent="-457200">
              <a:lnSpc>
                <a:spcPct val="150000"/>
              </a:lnSpc>
              <a:buFont typeface="+mj-lt"/>
              <a:buAutoNum type="alphaLcParenR"/>
              <a:defRPr/>
            </a:pPr>
            <a:r>
              <a:rPr lang="en-US" sz="1900" dirty="0">
                <a:latin typeface="Roboto"/>
                <a:ea typeface="Roboto"/>
                <a:cs typeface="Roboto"/>
              </a:rPr>
              <a:t>Adopted the rules of procedure for the Plenary;</a:t>
            </a:r>
          </a:p>
          <a:p>
            <a:pPr marL="530860" lvl="1" indent="-457200">
              <a:lnSpc>
                <a:spcPct val="150000"/>
              </a:lnSpc>
              <a:buFont typeface="+mj-lt"/>
              <a:buAutoNum type="alphaLcParenR"/>
              <a:defRPr/>
            </a:pPr>
            <a:r>
              <a:rPr lang="en-US" sz="1900" dirty="0">
                <a:latin typeface="Roboto"/>
                <a:ea typeface="Roboto"/>
                <a:cs typeface="Roboto"/>
              </a:rPr>
              <a:t>Designated the physical location of the secretariat of the Panel;</a:t>
            </a:r>
          </a:p>
          <a:p>
            <a:pPr marL="530860" lvl="1" indent="-457200">
              <a:lnSpc>
                <a:spcPct val="150000"/>
              </a:lnSpc>
              <a:buFont typeface="+mj-lt"/>
              <a:buAutoNum type="alphaLcParenR"/>
              <a:defRPr/>
            </a:pPr>
            <a:r>
              <a:rPr lang="en-US" sz="1900" dirty="0">
                <a:latin typeface="Roboto"/>
                <a:ea typeface="Roboto"/>
                <a:cs typeface="Roboto"/>
              </a:rPr>
              <a:t>Requested the establishment of a trust fund;</a:t>
            </a:r>
          </a:p>
          <a:p>
            <a:pPr marL="530860" lvl="1" indent="-457200">
              <a:lnSpc>
                <a:spcPct val="150000"/>
              </a:lnSpc>
              <a:buFont typeface="+mj-lt"/>
              <a:buAutoNum type="alphaLcParenR"/>
              <a:defRPr/>
            </a:pPr>
            <a:r>
              <a:rPr lang="en-US" sz="1900" dirty="0">
                <a:latin typeface="Roboto"/>
                <a:ea typeface="Roboto"/>
                <a:cs typeface="Roboto"/>
              </a:rPr>
              <a:t>Agreed on intersessional work and preparations for the second session of the Plenary, including to:</a:t>
            </a:r>
          </a:p>
          <a:p>
            <a:pPr marL="988060" lvl="2" indent="-457200">
              <a:lnSpc>
                <a:spcPct val="150000"/>
              </a:lnSpc>
              <a:buFont typeface="Wingdings" panose="05000000000000000000" pitchFamily="2" charset="2"/>
              <a:buChar char="§"/>
              <a:defRPr/>
            </a:pPr>
            <a:r>
              <a:rPr lang="en-US" dirty="0">
                <a:latin typeface="Roboto"/>
                <a:ea typeface="Roboto"/>
                <a:cs typeface="Roboto"/>
              </a:rPr>
              <a:t>Develop a proposal on establishing different types of partnerships;</a:t>
            </a:r>
          </a:p>
          <a:p>
            <a:pPr marL="988060" lvl="2" indent="-457200">
              <a:lnSpc>
                <a:spcPct val="150000"/>
              </a:lnSpc>
              <a:buFont typeface="Wingdings" panose="05000000000000000000" pitchFamily="2" charset="2"/>
              <a:buChar char="§"/>
              <a:defRPr/>
            </a:pPr>
            <a:r>
              <a:rPr lang="en-US" dirty="0">
                <a:latin typeface="Roboto"/>
                <a:ea typeface="Roboto"/>
                <a:cs typeface="Roboto"/>
              </a:rPr>
              <a:t>Pursue consideration of remaining procedures and policies </a:t>
            </a:r>
            <a:r>
              <a:rPr lang="en-US" dirty="0" err="1">
                <a:latin typeface="Roboto"/>
                <a:ea typeface="Roboto"/>
                <a:cs typeface="Roboto"/>
              </a:rPr>
              <a:t>intersessionally</a:t>
            </a:r>
            <a:r>
              <a:rPr lang="en-US" dirty="0">
                <a:latin typeface="Roboto"/>
                <a:ea typeface="Roboto"/>
                <a:cs typeface="Roboto"/>
              </a:rPr>
              <a:t>;</a:t>
            </a:r>
          </a:p>
          <a:p>
            <a:pPr marL="73660" lvl="1">
              <a:lnSpc>
                <a:spcPct val="150000"/>
              </a:lnSpc>
              <a:defRPr/>
            </a:pPr>
            <a:r>
              <a:rPr lang="en-US" sz="1900" dirty="0">
                <a:latin typeface="Roboto"/>
                <a:ea typeface="Roboto"/>
                <a:cs typeface="Roboto"/>
              </a:rPr>
              <a:t>f) Decided on the provisional agenda, dates and venue of next Plenary session</a:t>
            </a:r>
          </a:p>
          <a:p>
            <a:pPr marL="73660" lvl="1">
              <a:lnSpc>
                <a:spcPct val="150000"/>
              </a:lnSpc>
              <a:defRPr/>
            </a:pPr>
            <a:r>
              <a:rPr lang="en-US" sz="1900" dirty="0">
                <a:latin typeface="Roboto"/>
                <a:ea typeface="Roboto"/>
                <a:cs typeface="Roboto"/>
              </a:rPr>
              <a:t>g) Adopted the draft report of the first session of the Plenary.</a:t>
            </a:r>
          </a:p>
        </p:txBody>
      </p:sp>
      <p:cxnSp>
        <p:nvCxnSpPr>
          <p:cNvPr id="10" name="Straight Connector 9">
            <a:extLst>
              <a:ext uri="{FF2B5EF4-FFF2-40B4-BE49-F238E27FC236}">
                <a16:creationId xmlns:a16="http://schemas.microsoft.com/office/drawing/2014/main" id="{EC5E9DE5-AD66-FE45-9F71-BA747D297BE3}"/>
              </a:ext>
            </a:extLst>
          </p:cNvPr>
          <p:cNvCxnSpPr/>
          <p:nvPr/>
        </p:nvCxnSpPr>
        <p:spPr>
          <a:xfrm>
            <a:off x="0" y="1993900"/>
            <a:ext cx="5384800" cy="0"/>
          </a:xfrm>
          <a:prstGeom prst="line">
            <a:avLst/>
          </a:prstGeom>
          <a:ln>
            <a:solidFill>
              <a:srgbClr val="00AEEF"/>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8B639F4-EA80-9DB0-7383-A9EC96FC0D4B}"/>
              </a:ext>
            </a:extLst>
          </p:cNvPr>
          <p:cNvSpPr txBox="1"/>
          <p:nvPr/>
        </p:nvSpPr>
        <p:spPr>
          <a:xfrm>
            <a:off x="9796312" y="4123035"/>
            <a:ext cx="1672823" cy="1338828"/>
          </a:xfrm>
          <a:prstGeom prst="rect">
            <a:avLst/>
          </a:prstGeom>
          <a:noFill/>
        </p:spPr>
        <p:txBody>
          <a:bodyPr wrap="square" lIns="91440" tIns="45720" rIns="91440" bIns="45720" rtlCol="0" anchor="t">
            <a:spAutoFit/>
          </a:bodyPr>
          <a:lstStyle/>
          <a:p>
            <a:pPr algn="r"/>
            <a:r>
              <a:rPr lang="en-US" sz="1100" b="1">
                <a:solidFill>
                  <a:srgbClr val="FFFFFF"/>
                </a:solidFill>
                <a:latin typeface="Roboto"/>
                <a:ea typeface="Roboto"/>
                <a:cs typeface="Roboto"/>
              </a:rPr>
              <a:t>Intergovernmental </a:t>
            </a:r>
            <a:br>
              <a:rPr lang="en-US" sz="1100" b="1">
                <a:latin typeface="Roboto"/>
                <a:ea typeface="Roboto"/>
                <a:cs typeface="Roboto"/>
              </a:rPr>
            </a:br>
            <a:r>
              <a:rPr lang="en-US" sz="1100" b="1">
                <a:solidFill>
                  <a:srgbClr val="FFFFFF"/>
                </a:solidFill>
                <a:latin typeface="Roboto"/>
                <a:ea typeface="Roboto"/>
                <a:cs typeface="Roboto"/>
              </a:rPr>
              <a:t>Science-Policy Panel </a:t>
            </a:r>
            <a:br>
              <a:rPr lang="en-US" sz="1100" b="1">
                <a:latin typeface="Roboto"/>
                <a:ea typeface="Roboto"/>
                <a:cs typeface="Roboto"/>
              </a:rPr>
            </a:br>
            <a:r>
              <a:rPr lang="en-US" sz="1100" b="1">
                <a:solidFill>
                  <a:srgbClr val="FFFFFF"/>
                </a:solidFill>
                <a:latin typeface="Roboto"/>
                <a:ea typeface="Roboto"/>
                <a:cs typeface="Roboto"/>
              </a:rPr>
              <a:t>on Chemicals, Waste and Pollution</a:t>
            </a:r>
            <a:endParaRPr lang="en-US"/>
          </a:p>
          <a:p>
            <a:pPr algn="r"/>
            <a:endParaRPr lang="en-US" sz="1100" b="1">
              <a:solidFill>
                <a:srgbClr val="FFFFFF"/>
              </a:solidFill>
              <a:latin typeface="Roboto"/>
              <a:ea typeface="Roboto"/>
              <a:cs typeface="Roboto"/>
            </a:endParaRPr>
          </a:p>
          <a:p>
            <a:pPr algn="r"/>
            <a:r>
              <a:rPr lang="en-US" sz="1500" b="1">
                <a:solidFill>
                  <a:srgbClr val="FFFFFF"/>
                </a:solidFill>
                <a:latin typeface="Roboto"/>
                <a:ea typeface="Roboto"/>
                <a:cs typeface="Roboto"/>
              </a:rPr>
              <a:t>ISP-CWP</a:t>
            </a:r>
            <a:endParaRPr lang="en-US" sz="1500">
              <a:solidFill>
                <a:srgbClr val="000000"/>
              </a:solidFill>
              <a:latin typeface="Roboto"/>
              <a:ea typeface="Roboto"/>
              <a:cs typeface="Roboto"/>
            </a:endParaRPr>
          </a:p>
          <a:p>
            <a:pPr algn="r"/>
            <a:endParaRPr lang="en-US" sz="1100" b="1">
              <a:solidFill>
                <a:srgbClr val="FFFFFF"/>
              </a:solidFill>
              <a:latin typeface="Roboto"/>
              <a:ea typeface="Roboto"/>
              <a:cs typeface="Roboto"/>
            </a:endParaRPr>
          </a:p>
        </p:txBody>
      </p:sp>
    </p:spTree>
    <p:extLst>
      <p:ext uri="{BB962C8B-B14F-4D97-AF65-F5344CB8AC3E}">
        <p14:creationId xmlns:p14="http://schemas.microsoft.com/office/powerpoint/2010/main" val="499907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070E7B-94C6-3620-28A0-31A5BDBF2586}"/>
              </a:ext>
            </a:extLst>
          </p:cNvPr>
          <p:cNvSpPr txBox="1"/>
          <p:nvPr/>
        </p:nvSpPr>
        <p:spPr>
          <a:xfrm>
            <a:off x="9109467" y="5930908"/>
            <a:ext cx="2595583" cy="369332"/>
          </a:xfrm>
          <a:prstGeom prst="rect">
            <a:avLst/>
          </a:prstGeom>
          <a:noFill/>
        </p:spPr>
        <p:txBody>
          <a:bodyPr wrap="non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Roboto"/>
                <a:ea typeface="Roboto"/>
                <a:cs typeface="Roboto"/>
              </a:rPr>
              <a:t>www.unep.org/isp-cwp</a:t>
            </a:r>
            <a:endParaRPr kumimoji="0" lang="en-KE" sz="1800" b="1"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1" name="TextBox 10">
            <a:extLst>
              <a:ext uri="{FF2B5EF4-FFF2-40B4-BE49-F238E27FC236}">
                <a16:creationId xmlns:a16="http://schemas.microsoft.com/office/drawing/2014/main" id="{0E1305D6-2DDD-5E52-47C7-016E89DCB383}"/>
              </a:ext>
            </a:extLst>
          </p:cNvPr>
          <p:cNvSpPr txBox="1"/>
          <p:nvPr/>
        </p:nvSpPr>
        <p:spPr>
          <a:xfrm>
            <a:off x="939801" y="5869353"/>
            <a:ext cx="3203515"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mn-cs"/>
              </a:rPr>
              <a:t>United Nations Avenue, </a:t>
            </a:r>
            <a:r>
              <a:rPr kumimoji="0" lang="en-US" sz="11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mn-cs"/>
              </a:rPr>
              <a:t>Gigiri</a:t>
            </a:r>
            <a:endParaRPr kumimoji="0" lang="en-US" sz="11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mn-cs"/>
              </a:rPr>
              <a:t>PO Box 30552 – 00100 GPO Nairobi, Kenya</a:t>
            </a:r>
          </a:p>
        </p:txBody>
      </p:sp>
      <p:grpSp>
        <p:nvGrpSpPr>
          <p:cNvPr id="12" name="Group 11">
            <a:extLst>
              <a:ext uri="{FF2B5EF4-FFF2-40B4-BE49-F238E27FC236}">
                <a16:creationId xmlns:a16="http://schemas.microsoft.com/office/drawing/2014/main" id="{5662B040-8E62-18F8-3A8E-AA480EBDF5FA}"/>
              </a:ext>
            </a:extLst>
          </p:cNvPr>
          <p:cNvGrpSpPr/>
          <p:nvPr/>
        </p:nvGrpSpPr>
        <p:grpSpPr>
          <a:xfrm>
            <a:off x="939800" y="4061219"/>
            <a:ext cx="5308600" cy="1541952"/>
            <a:chOff x="6575124" y="3186127"/>
            <a:chExt cx="4981876" cy="1541952"/>
          </a:xfrm>
        </p:grpSpPr>
        <p:sp>
          <p:nvSpPr>
            <p:cNvPr id="13" name="TextBox 12">
              <a:extLst>
                <a:ext uri="{FF2B5EF4-FFF2-40B4-BE49-F238E27FC236}">
                  <a16:creationId xmlns:a16="http://schemas.microsoft.com/office/drawing/2014/main" id="{7719F423-52F2-BE7B-6D09-4C870A273CFE}"/>
                </a:ext>
              </a:extLst>
            </p:cNvPr>
            <p:cNvSpPr txBox="1"/>
            <p:nvPr/>
          </p:nvSpPr>
          <p:spPr>
            <a:xfrm>
              <a:off x="6575124" y="3897082"/>
              <a:ext cx="4981876" cy="83099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Roboto"/>
                  <a:ea typeface="Roboto"/>
                  <a:cs typeface="Roboto"/>
                </a:rPr>
                <a:t>Tessa </a:t>
              </a:r>
              <a:r>
                <a:rPr kumimoji="0" lang="en-US" sz="1600" b="0" i="0" u="none" strike="noStrike" kern="1200" cap="none" spc="0" normalizeH="0" baseline="0" noProof="0" dirty="0" err="1">
                  <a:ln>
                    <a:noFill/>
                  </a:ln>
                  <a:solidFill>
                    <a:prstClr val="white"/>
                  </a:solidFill>
                  <a:effectLst/>
                  <a:uLnTx/>
                  <a:uFillTx/>
                  <a:latin typeface="Roboto"/>
                  <a:ea typeface="Roboto"/>
                  <a:cs typeface="Roboto"/>
                </a:rPr>
                <a:t>Goverse</a:t>
              </a:r>
              <a:endParaRPr kumimoji="0" lang="en-US" sz="16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Roboto"/>
                  <a:ea typeface="Roboto"/>
                  <a:cs typeface="Roboto"/>
                </a:rPr>
                <a:t>Principal Coordinator</a:t>
              </a:r>
              <a:endParaRPr kumimoji="0" lang="en-US" sz="16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Robot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Roboto"/>
                  <a:ea typeface="Roboto"/>
                  <a:cs typeface="Roboto"/>
                </a:rPr>
                <a:t>isp-cwp@un.org</a:t>
              </a:r>
            </a:p>
          </p:txBody>
        </p:sp>
        <p:sp>
          <p:nvSpPr>
            <p:cNvPr id="15" name="TextBox 14">
              <a:extLst>
                <a:ext uri="{FF2B5EF4-FFF2-40B4-BE49-F238E27FC236}">
                  <a16:creationId xmlns:a16="http://schemas.microsoft.com/office/drawing/2014/main" id="{BE468681-E09B-7BFF-81A6-0896B3F3EE79}"/>
                </a:ext>
              </a:extLst>
            </p:cNvPr>
            <p:cNvSpPr txBox="1"/>
            <p:nvPr/>
          </p:nvSpPr>
          <p:spPr>
            <a:xfrm>
              <a:off x="6575125" y="3186127"/>
              <a:ext cx="433903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rPr>
                <a:t>Thank you</a:t>
              </a:r>
            </a:p>
          </p:txBody>
        </p:sp>
      </p:grpSp>
    </p:spTree>
    <p:extLst>
      <p:ext uri="{BB962C8B-B14F-4D97-AF65-F5344CB8AC3E}">
        <p14:creationId xmlns:p14="http://schemas.microsoft.com/office/powerpoint/2010/main" val="149826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BA02E80-D97B-BB4E-9463-06AA165769A6}" vid="{5196EADF-DCBB-9C41-A65B-81DF0ACF33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BE69CD140650540B62A8AE00C729F0B" ma:contentTypeVersion="18" ma:contentTypeDescription="Create a new document." ma:contentTypeScope="" ma:versionID="72a103acd279c71f63fb887236a01025">
  <xsd:schema xmlns:xsd="http://www.w3.org/2001/XMLSchema" xmlns:xs="http://www.w3.org/2001/XMLSchema" xmlns:p="http://schemas.microsoft.com/office/2006/metadata/properties" xmlns:ns2="13185671-ac6e-40ff-8cc4-2826369d91e0" xmlns:ns3="3fda1d92-f03b-460c-bc42-e2755e09001d" targetNamespace="http://schemas.microsoft.com/office/2006/metadata/properties" ma:root="true" ma:fieldsID="7eb799ad9d1fb12167fedd9463936320" ns2:_="" ns3:_="">
    <xsd:import namespace="13185671-ac6e-40ff-8cc4-2826369d91e0"/>
    <xsd:import namespace="3fda1d92-f03b-460c-bc42-e2755e09001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Link"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85671-ac6e-40ff-8cc4-2826369d91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8175662-8596-484a-92c7-351d01561e2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Link" ma:index="24" nillable="true" ma:displayName="Link" ma:format="Hyperlink" ma:internalName="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fda1d92-f03b-460c-bc42-e2755e09001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0d9dad28-56c3-46f9-8342-d2a43a3bc41e}" ma:internalName="TaxCatchAll" ma:showField="CatchAllData" ma:web="3fda1d92-f03b-460c-bc42-e2755e0900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fda1d92-f03b-460c-bc42-e2755e09001d" xsi:nil="true"/>
    <lcf76f155ced4ddcb4097134ff3c332f xmlns="13185671-ac6e-40ff-8cc4-2826369d91e0">
      <Terms xmlns="http://schemas.microsoft.com/office/infopath/2007/PartnerControls"/>
    </lcf76f155ced4ddcb4097134ff3c332f>
    <Link xmlns="13185671-ac6e-40ff-8cc4-2826369d91e0">
      <Url xsi:nil="true"/>
      <Description xsi:nil="true"/>
    </Link>
    <SharedWithUsers xmlns="3fda1d92-f03b-460c-bc42-e2755e09001d">
      <UserInfo>
        <DisplayName>Tessa Goverse</DisplayName>
        <AccountId>367</AccountId>
        <AccountType/>
      </UserInfo>
      <UserInfo>
        <DisplayName>Richard Miesen</DisplayName>
        <AccountId>17</AccountId>
        <AccountType/>
      </UserInfo>
    </SharedWithUsers>
  </documentManagement>
</p:properties>
</file>

<file path=customXml/itemProps1.xml><?xml version="1.0" encoding="utf-8"?>
<ds:datastoreItem xmlns:ds="http://schemas.openxmlformats.org/officeDocument/2006/customXml" ds:itemID="{37941AA3-7CE3-4BB4-8E38-D674F53927F1}">
  <ds:schemaRefs>
    <ds:schemaRef ds:uri="http://schemas.microsoft.com/sharepoint/v3/contenttype/forms"/>
  </ds:schemaRefs>
</ds:datastoreItem>
</file>

<file path=customXml/itemProps2.xml><?xml version="1.0" encoding="utf-8"?>
<ds:datastoreItem xmlns:ds="http://schemas.openxmlformats.org/officeDocument/2006/customXml" ds:itemID="{75015650-4036-4535-9C51-CB9ABCB617F5}">
  <ds:schemaRefs>
    <ds:schemaRef ds:uri="13185671-ac6e-40ff-8cc4-2826369d91e0"/>
    <ds:schemaRef ds:uri="3fda1d92-f03b-460c-bc42-e2755e09001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F026147-90F1-44D8-8041-A9877EF01F82}">
  <ds:schemaRefs>
    <ds:schemaRef ds:uri="13185671-ac6e-40ff-8cc4-2826369d91e0"/>
    <ds:schemaRef ds:uri="3fda1d92-f03b-460c-bc42-e2755e09001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8b77875e-5908-45a0-9cb4-dec9ae074618}" enabled="1" method="Privileged" siteId="{0f9e35db-544f-4f60-bdcc-5ea416e6dc70}" removed="0"/>
</clbl:labelList>
</file>

<file path=docProps/app.xml><?xml version="1.0" encoding="utf-8"?>
<Properties xmlns="http://schemas.openxmlformats.org/officeDocument/2006/extended-properties" xmlns:vt="http://schemas.openxmlformats.org/officeDocument/2006/docPropsVTypes">
  <Template>UNEP Corporate Presentation template</Template>
  <TotalTime>101</TotalTime>
  <Words>1667</Words>
  <Application>Microsoft Office PowerPoint</Application>
  <PresentationFormat>Widescreen</PresentationFormat>
  <Paragraphs>188</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Calibri Light</vt:lpstr>
      <vt:lpstr>Roboto</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Nalini Sharma</dc:creator>
  <cp:keywords/>
  <dc:description/>
  <cp:lastModifiedBy>Tessa Goverse</cp:lastModifiedBy>
  <cp:revision>3</cp:revision>
  <cp:lastPrinted>2024-06-12T13:30:43Z</cp:lastPrinted>
  <dcterms:created xsi:type="dcterms:W3CDTF">2023-07-06T07:24:19Z</dcterms:created>
  <dcterms:modified xsi:type="dcterms:W3CDTF">2026-02-01T08:08:04Z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0x0101007BE69CD140650540B62A8AE00C729F0B</vt:lpwstr>
  </property>
  <property fmtid="{D5CDD505-2E9C-101B-9397-08002B2CF9AE}" pid="3" name="MediaServiceImageTags">
    <vt:lpwstr/>
  </property>
</Properties>
</file>